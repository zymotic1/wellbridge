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2" r:id="rId5"/>
    <p:sldId id="261" r:id="rId6"/>
    <p:sldId id="263" r:id="rId7"/>
    <p:sldId id="264" r:id="rId8"/>
    <p:sldId id="265" r:id="rId9"/>
  </p:sldIdLst>
  <p:sldSz cx="22860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F175F4-DABA-4627-ADE3-86102FEB7212}" v="178" dt="2026-01-06T01:23:2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5" autoAdjust="0"/>
    <p:restoredTop sz="94660"/>
  </p:normalViewPr>
  <p:slideViewPr>
    <p:cSldViewPr snapToGrid="0">
      <p:cViewPr varScale="1">
        <p:scale>
          <a:sx n="58" d="100"/>
          <a:sy n="58" d="100"/>
        </p:scale>
        <p:origin x="16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0" y="1122363"/>
            <a:ext cx="17145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3602038"/>
            <a:ext cx="17145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4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7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19" y="1709739"/>
            <a:ext cx="197167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19" y="4589464"/>
            <a:ext cx="19716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2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1825625"/>
            <a:ext cx="97155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1825625"/>
            <a:ext cx="97155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73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365126"/>
            <a:ext cx="197167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3" y="1681163"/>
            <a:ext cx="967085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3" y="2505075"/>
            <a:ext cx="967085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5" y="1681163"/>
            <a:ext cx="97184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5" y="2505075"/>
            <a:ext cx="971847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5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0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0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457200"/>
            <a:ext cx="7372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987426"/>
            <a:ext cx="115728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2057400"/>
            <a:ext cx="7372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78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457200"/>
            <a:ext cx="737294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987426"/>
            <a:ext cx="1157287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2057400"/>
            <a:ext cx="7372944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4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7" y="365125"/>
            <a:ext cx="492918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5" y="365125"/>
            <a:ext cx="1450181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2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365126"/>
            <a:ext cx="197167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1825625"/>
            <a:ext cx="197167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6356351"/>
            <a:ext cx="5143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013C78-5C4A-4962-8D29-C498EA0F5CA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6356351"/>
            <a:ext cx="7715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6356351"/>
            <a:ext cx="5143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AB9AC-B491-4428-8248-EA0F7E67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4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4747A5-12EB-8B97-A4F6-50FD9FB867FB}"/>
              </a:ext>
            </a:extLst>
          </p:cNvPr>
          <p:cNvSpPr/>
          <p:nvPr/>
        </p:nvSpPr>
        <p:spPr>
          <a:xfrm>
            <a:off x="441157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88757C-3DC8-C105-2491-C81D988582A5}"/>
              </a:ext>
            </a:extLst>
          </p:cNvPr>
          <p:cNvSpPr/>
          <p:nvPr/>
        </p:nvSpPr>
        <p:spPr>
          <a:xfrm>
            <a:off x="4204635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4EAA31-04D9-B336-249D-5047DF7C9A73}"/>
              </a:ext>
            </a:extLst>
          </p:cNvPr>
          <p:cNvSpPr/>
          <p:nvPr/>
        </p:nvSpPr>
        <p:spPr>
          <a:xfrm>
            <a:off x="7968113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F9DA99-14D4-5CBA-DA8F-EF9287AE60C0}"/>
              </a:ext>
            </a:extLst>
          </p:cNvPr>
          <p:cNvSpPr/>
          <p:nvPr/>
        </p:nvSpPr>
        <p:spPr>
          <a:xfrm>
            <a:off x="11751746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E4C3A1-D1DA-C0E6-6A19-3FB66AE1048F}"/>
              </a:ext>
            </a:extLst>
          </p:cNvPr>
          <p:cNvSpPr/>
          <p:nvPr/>
        </p:nvSpPr>
        <p:spPr>
          <a:xfrm>
            <a:off x="15495069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C0E3BE9-2856-E654-82F7-DD2A8FB62D34}"/>
              </a:ext>
            </a:extLst>
          </p:cNvPr>
          <p:cNvSpPr/>
          <p:nvPr/>
        </p:nvSpPr>
        <p:spPr>
          <a:xfrm>
            <a:off x="19258548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B995A-BD31-DB9B-8CB5-525DF9A667CB}"/>
              </a:ext>
            </a:extLst>
          </p:cNvPr>
          <p:cNvSpPr txBox="1"/>
          <p:nvPr/>
        </p:nvSpPr>
        <p:spPr>
          <a:xfrm>
            <a:off x="538477" y="939244"/>
            <a:ext cx="1239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96B209-01E3-D46B-B0CA-56590F11A16A}"/>
              </a:ext>
            </a:extLst>
          </p:cNvPr>
          <p:cNvSpPr/>
          <p:nvPr/>
        </p:nvSpPr>
        <p:spPr>
          <a:xfrm>
            <a:off x="669003" y="1747689"/>
            <a:ext cx="2752725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Ask or Say Anything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B102B0-D880-178D-3E4C-E450EC2E7CAA}"/>
              </a:ext>
            </a:extLst>
          </p:cNvPr>
          <p:cNvSpPr/>
          <p:nvPr/>
        </p:nvSpPr>
        <p:spPr>
          <a:xfrm>
            <a:off x="669002" y="2540586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Actions / Reminders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None yet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A3B70-A578-FBC4-3012-558FE3CDAF12}"/>
              </a:ext>
            </a:extLst>
          </p:cNvPr>
          <p:cNvSpPr txBox="1"/>
          <p:nvPr/>
        </p:nvSpPr>
        <p:spPr>
          <a:xfrm>
            <a:off x="4286250" y="953988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0C9687-637E-2FA7-2F61-3BF1D48BE888}"/>
              </a:ext>
            </a:extLst>
          </p:cNvPr>
          <p:cNvSpPr txBox="1"/>
          <p:nvPr/>
        </p:nvSpPr>
        <p:spPr>
          <a:xfrm>
            <a:off x="552450" y="1261765"/>
            <a:ext cx="2331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HOME: Jeane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492E9E-F846-A092-6170-2B42B5769201}"/>
              </a:ext>
            </a:extLst>
          </p:cNvPr>
          <p:cNvCxnSpPr/>
          <p:nvPr/>
        </p:nvCxnSpPr>
        <p:spPr>
          <a:xfrm>
            <a:off x="669003" y="2362200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D5F5CB2-03CF-681A-2EF6-BC1CE6EF9605}"/>
              </a:ext>
            </a:extLst>
          </p:cNvPr>
          <p:cNvCxnSpPr/>
          <p:nvPr/>
        </p:nvCxnSpPr>
        <p:spPr>
          <a:xfrm>
            <a:off x="669001" y="3934213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03CCDD-D96D-8F1A-2756-5DB4FA041A0E}"/>
              </a:ext>
            </a:extLst>
          </p:cNvPr>
          <p:cNvCxnSpPr>
            <a:cxnSpLocks/>
          </p:cNvCxnSpPr>
          <p:nvPr/>
        </p:nvCxnSpPr>
        <p:spPr>
          <a:xfrm>
            <a:off x="663147" y="5995381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B13651C-B0A6-3E2E-F27B-CD2D8FB3F7AE}"/>
              </a:ext>
            </a:extLst>
          </p:cNvPr>
          <p:cNvSpPr txBox="1"/>
          <p:nvPr/>
        </p:nvSpPr>
        <p:spPr>
          <a:xfrm>
            <a:off x="536655" y="6513552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9CE5D0-B55E-2BD4-F5D6-1272F1D8CE89}"/>
              </a:ext>
            </a:extLst>
          </p:cNvPr>
          <p:cNvSpPr txBox="1"/>
          <p:nvPr/>
        </p:nvSpPr>
        <p:spPr>
          <a:xfrm>
            <a:off x="1104952" y="6513552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Talk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0C6E4-C216-A987-92B7-42CE2265CDA3}"/>
              </a:ext>
            </a:extLst>
          </p:cNvPr>
          <p:cNvSpPr txBox="1"/>
          <p:nvPr/>
        </p:nvSpPr>
        <p:spPr>
          <a:xfrm>
            <a:off x="1537493" y="6513552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My Journey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B62912-D2FA-7135-C651-5E37E3435BCF}"/>
              </a:ext>
            </a:extLst>
          </p:cNvPr>
          <p:cNvSpPr txBox="1"/>
          <p:nvPr/>
        </p:nvSpPr>
        <p:spPr>
          <a:xfrm>
            <a:off x="2336087" y="6513552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People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FE98534-A889-9B7E-1660-0B8E65A0B9A0}"/>
              </a:ext>
            </a:extLst>
          </p:cNvPr>
          <p:cNvSpPr/>
          <p:nvPr/>
        </p:nvSpPr>
        <p:spPr>
          <a:xfrm>
            <a:off x="4403280" y="1741289"/>
            <a:ext cx="2752725" cy="3873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b="1" dirty="0"/>
              <a:t>I just got this app. A friend said it would help as I’ve just been told I’m going to have a surgery.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B1E6F8-F6EB-8B55-39DE-B5A2785A7EC7}"/>
              </a:ext>
            </a:extLst>
          </p:cNvPr>
          <p:cNvSpPr/>
          <p:nvPr/>
        </p:nvSpPr>
        <p:spPr>
          <a:xfrm>
            <a:off x="4403279" y="2534187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Actions / Reminders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None yet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862C740-31BD-8029-800C-B307C5C933FD}"/>
              </a:ext>
            </a:extLst>
          </p:cNvPr>
          <p:cNvSpPr txBox="1"/>
          <p:nvPr/>
        </p:nvSpPr>
        <p:spPr>
          <a:xfrm>
            <a:off x="4286726" y="1255366"/>
            <a:ext cx="1668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HOME: Jeane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DBA87F-5783-6FD1-30A2-36A893713925}"/>
              </a:ext>
            </a:extLst>
          </p:cNvPr>
          <p:cNvCxnSpPr/>
          <p:nvPr/>
        </p:nvCxnSpPr>
        <p:spPr>
          <a:xfrm>
            <a:off x="4403280" y="2355801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D629CD-82C7-9CBC-FB68-C8064A33829E}"/>
              </a:ext>
            </a:extLst>
          </p:cNvPr>
          <p:cNvCxnSpPr/>
          <p:nvPr/>
        </p:nvCxnSpPr>
        <p:spPr>
          <a:xfrm>
            <a:off x="4403278" y="3927814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6A76C31-7D18-2DF6-F93A-3EF75050BE26}"/>
              </a:ext>
            </a:extLst>
          </p:cNvPr>
          <p:cNvSpPr/>
          <p:nvPr/>
        </p:nvSpPr>
        <p:spPr>
          <a:xfrm>
            <a:off x="8429625" y="4470411"/>
            <a:ext cx="2638425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I just got this app. A friend said it would help as I’ve just been told I’m going to have a surgery.  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344A7B-4E4D-35FF-A8F1-1E3F6B800B80}"/>
              </a:ext>
            </a:extLst>
          </p:cNvPr>
          <p:cNvSpPr/>
          <p:nvPr/>
        </p:nvSpPr>
        <p:spPr>
          <a:xfrm>
            <a:off x="8153400" y="4946394"/>
            <a:ext cx="2724150" cy="1173361"/>
          </a:xfrm>
          <a:prstGeom prst="roundRect">
            <a:avLst>
              <a:gd name="adj" fmla="val 854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800" b="1" dirty="0"/>
              <a:t>Good morning Jeanne, and welcome to </a:t>
            </a:r>
            <a:r>
              <a:rPr lang="en-US" sz="800" b="1" dirty="0" err="1"/>
              <a:t>WellBridge</a:t>
            </a:r>
            <a:r>
              <a:rPr lang="en-US" sz="800" b="1" dirty="0"/>
              <a:t>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I’m here to help you before, during, and after your medical visits — and to keep track of things so you don’t have to remember everything yourself.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If it’s okay, I’ll ask a few gentle questions to understand what’s coming up.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What have you been told so far about the surgery?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007F00C-AD70-D0AF-ADCC-C930F4C548C1}"/>
              </a:ext>
            </a:extLst>
          </p:cNvPr>
          <p:cNvSpPr txBox="1"/>
          <p:nvPr/>
        </p:nvSpPr>
        <p:spPr>
          <a:xfrm>
            <a:off x="8153400" y="960387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AA7341-DF3B-E0FA-627D-98CDFFB7EB82}"/>
              </a:ext>
            </a:extLst>
          </p:cNvPr>
          <p:cNvSpPr txBox="1"/>
          <p:nvPr/>
        </p:nvSpPr>
        <p:spPr>
          <a:xfrm>
            <a:off x="8153877" y="1261765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3662848-215B-FC82-1535-35FBC7AC0CAA}"/>
              </a:ext>
            </a:extLst>
          </p:cNvPr>
          <p:cNvSpPr/>
          <p:nvPr/>
        </p:nvSpPr>
        <p:spPr>
          <a:xfrm>
            <a:off x="12249149" y="2278838"/>
            <a:ext cx="2543175" cy="3077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I just got this app. A friend said it would help as I’ve just been told I’m going to have a surgery.  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983074-A3A5-9B0C-AA8D-8C9677D4482B}"/>
              </a:ext>
            </a:extLst>
          </p:cNvPr>
          <p:cNvSpPr/>
          <p:nvPr/>
        </p:nvSpPr>
        <p:spPr>
          <a:xfrm>
            <a:off x="12264594" y="3924453"/>
            <a:ext cx="2543175" cy="3881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It’s to do with my heart. I think it is called an ablation. It’s happening Tuesday next week, 9am, at St Mary’s in Livingston, NJ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906E1DA-3D7A-1E3F-A471-12A124ED0F48}"/>
              </a:ext>
            </a:extLst>
          </p:cNvPr>
          <p:cNvSpPr/>
          <p:nvPr/>
        </p:nvSpPr>
        <p:spPr>
          <a:xfrm>
            <a:off x="668999" y="4054077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None yet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4421D0EE-4F63-AEB9-362F-12893AF4DA28}"/>
              </a:ext>
            </a:extLst>
          </p:cNvPr>
          <p:cNvSpPr/>
          <p:nvPr/>
        </p:nvSpPr>
        <p:spPr>
          <a:xfrm>
            <a:off x="4323186" y="4046789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None yet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39D28B-7940-EC41-5EBC-A03839FDED61}"/>
              </a:ext>
            </a:extLst>
          </p:cNvPr>
          <p:cNvSpPr txBox="1"/>
          <p:nvPr/>
        </p:nvSpPr>
        <p:spPr>
          <a:xfrm>
            <a:off x="11887200" y="930324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E0F2A0-DC49-A92B-79BA-6F2D662E3C49}"/>
              </a:ext>
            </a:extLst>
          </p:cNvPr>
          <p:cNvSpPr txBox="1"/>
          <p:nvPr/>
        </p:nvSpPr>
        <p:spPr>
          <a:xfrm>
            <a:off x="11887677" y="1231702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89044754-BB4E-46A4-A093-E4068BC95FAC}"/>
              </a:ext>
            </a:extLst>
          </p:cNvPr>
          <p:cNvSpPr/>
          <p:nvPr/>
        </p:nvSpPr>
        <p:spPr>
          <a:xfrm>
            <a:off x="11984356" y="4400238"/>
            <a:ext cx="2762250" cy="859344"/>
          </a:xfrm>
          <a:prstGeom prst="roundRect">
            <a:avLst>
              <a:gd name="adj" fmla="val 10017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Thank you — that’s helpful.</a:t>
            </a:r>
          </a:p>
          <a:p>
            <a:r>
              <a:rPr lang="en-US" sz="800" b="1" dirty="0"/>
              <a:t>Just to check I’ve got this right:</a:t>
            </a:r>
            <a:br>
              <a:rPr lang="en-US" sz="800" b="1" dirty="0"/>
            </a:br>
            <a:r>
              <a:rPr lang="en-US" sz="800" b="1" dirty="0"/>
              <a:t>• You’re having a heart procedure called an ablation</a:t>
            </a:r>
            <a:br>
              <a:rPr lang="en-US" sz="800" b="1" dirty="0"/>
            </a:br>
            <a:r>
              <a:rPr lang="en-US" sz="800" b="1" dirty="0"/>
              <a:t>• It’s scheduled for Tuesday next week, 9am ET</a:t>
            </a:r>
            <a:br>
              <a:rPr lang="en-US" sz="800" b="1" dirty="0"/>
            </a:br>
            <a:r>
              <a:rPr lang="en-US" sz="800" b="1" dirty="0"/>
              <a:t>• It’s at St Mary’s Hospital, Livingston, NJ, USA</a:t>
            </a:r>
          </a:p>
          <a:p>
            <a:r>
              <a:rPr lang="en-US" sz="800" b="1" dirty="0"/>
              <a:t>Does that sound correct?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88FA2E06-2AFC-FB27-023F-EE8683653593}"/>
              </a:ext>
            </a:extLst>
          </p:cNvPr>
          <p:cNvSpPr/>
          <p:nvPr/>
        </p:nvSpPr>
        <p:spPr>
          <a:xfrm>
            <a:off x="19764374" y="3270511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They said I should stop one of my heart tablets the night before, but I can’t remember which one.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CC298BA-42E8-1536-D9F5-A2A9233CC15F}"/>
              </a:ext>
            </a:extLst>
          </p:cNvPr>
          <p:cNvSpPr/>
          <p:nvPr/>
        </p:nvSpPr>
        <p:spPr>
          <a:xfrm>
            <a:off x="19511739" y="1565317"/>
            <a:ext cx="2665197" cy="1642576"/>
          </a:xfrm>
          <a:prstGeom prst="roundRect">
            <a:avLst>
              <a:gd name="adj" fmla="val 604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Here are the important points I see in the email:</a:t>
            </a:r>
            <a:br>
              <a:rPr lang="en-US" sz="800" b="1" dirty="0"/>
            </a:br>
            <a:r>
              <a:rPr lang="en-US" sz="800" b="1" dirty="0"/>
              <a:t>• The procedure is planned as a day admission</a:t>
            </a:r>
            <a:br>
              <a:rPr lang="en-US" sz="800" b="1" dirty="0"/>
            </a:br>
            <a:r>
              <a:rPr lang="en-US" sz="800" b="1" dirty="0"/>
              <a:t>• You’ll need to fast from midnight the night before</a:t>
            </a:r>
            <a:br>
              <a:rPr lang="en-US" sz="800" b="1" dirty="0"/>
            </a:br>
            <a:r>
              <a:rPr lang="en-US" sz="800" b="1" dirty="0"/>
              <a:t>• You should continue most medications, but stop eating and drinking as instructed</a:t>
            </a:r>
          </a:p>
          <a:p>
            <a:endParaRPr lang="en-US" sz="800" b="1" dirty="0"/>
          </a:p>
          <a:p>
            <a:r>
              <a:rPr lang="en-US" sz="800" b="1" dirty="0"/>
              <a:t>I’ll keep the full details saved, but you don’t need to remember all of this.</a:t>
            </a:r>
          </a:p>
          <a:p>
            <a:endParaRPr lang="en-US" sz="800" b="1" dirty="0"/>
          </a:p>
          <a:p>
            <a:r>
              <a:rPr lang="en-US" sz="800" b="1" dirty="0"/>
              <a:t>Did anyone mention changes to your medications — either stopping something or starting something new?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F510096-6AD2-EB26-7BEB-3108EC99BDC2}"/>
              </a:ext>
            </a:extLst>
          </p:cNvPr>
          <p:cNvSpPr txBox="1"/>
          <p:nvPr/>
        </p:nvSpPr>
        <p:spPr>
          <a:xfrm>
            <a:off x="101008" y="680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Scenario 1A. Patient: Jeane (ablation surgery). Context: First interaction, surgery upcoming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6DD35CC-3CB3-F2F9-4A93-954770F11E11}"/>
              </a:ext>
            </a:extLst>
          </p:cNvPr>
          <p:cNvSpPr txBox="1"/>
          <p:nvPr/>
        </p:nvSpPr>
        <p:spPr>
          <a:xfrm>
            <a:off x="455130" y="457983"/>
            <a:ext cx="3208422" cy="259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200" dirty="0"/>
              <a:t>SCREEN 1 — HOME (initial)</a:t>
            </a:r>
            <a:endParaRPr lang="en-US"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791BAF-322C-1E23-289F-56CC5E94434B}"/>
              </a:ext>
            </a:extLst>
          </p:cNvPr>
          <p:cNvSpPr txBox="1"/>
          <p:nvPr/>
        </p:nvSpPr>
        <p:spPr>
          <a:xfrm>
            <a:off x="4190662" y="457983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2 — USER OPENS CHAT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B52D43FE-9D4A-1990-2962-BBF178175F9D}"/>
              </a:ext>
            </a:extLst>
          </p:cNvPr>
          <p:cNvSpPr/>
          <p:nvPr/>
        </p:nvSpPr>
        <p:spPr>
          <a:xfrm>
            <a:off x="11984356" y="2664678"/>
            <a:ext cx="2724150" cy="1173361"/>
          </a:xfrm>
          <a:prstGeom prst="roundRect">
            <a:avLst>
              <a:gd name="adj" fmla="val 854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n-US" sz="800" b="1" dirty="0"/>
              <a:t>Good morning Jeanne, and welcome to </a:t>
            </a:r>
            <a:r>
              <a:rPr lang="en-US" sz="800" b="1" dirty="0" err="1"/>
              <a:t>WellBridge</a:t>
            </a:r>
            <a:r>
              <a:rPr lang="en-US" sz="800" b="1" dirty="0"/>
              <a:t>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I’m here to help you before, during, and after your medical visits — and to keep track of things so you don’t have to remember everything yourself.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If it’s okay, I’ll ask a few gentle questions to understand what’s coming up.</a:t>
            </a:r>
          </a:p>
          <a:p>
            <a:pPr>
              <a:spcAft>
                <a:spcPts val="600"/>
              </a:spcAft>
            </a:pPr>
            <a:r>
              <a:rPr lang="en-US" sz="800" b="1" dirty="0"/>
              <a:t>What have you been told so far about the surgery?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2B37C694-EBFA-F7F9-4ECE-96CAE1A96962}"/>
              </a:ext>
            </a:extLst>
          </p:cNvPr>
          <p:cNvSpPr/>
          <p:nvPr/>
        </p:nvSpPr>
        <p:spPr>
          <a:xfrm>
            <a:off x="12264593" y="5336581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Yes.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DDBFA400-06C9-FBBE-277C-6EC2AD80093E}"/>
              </a:ext>
            </a:extLst>
          </p:cNvPr>
          <p:cNvSpPr/>
          <p:nvPr/>
        </p:nvSpPr>
        <p:spPr>
          <a:xfrm>
            <a:off x="19511739" y="3591586"/>
            <a:ext cx="2665197" cy="66671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That’s okay — we don’t need to guess.</a:t>
            </a:r>
          </a:p>
          <a:p>
            <a:r>
              <a:rPr lang="en-US" sz="800" b="1" dirty="0"/>
              <a:t>I’ll flag that as something to clarify, and when we get closer to Tuesday I’ll remind you to double-check with the clinic.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4DFA2A0D-DE40-711D-8CD0-70EE5748BE08}"/>
              </a:ext>
            </a:extLst>
          </p:cNvPr>
          <p:cNvSpPr/>
          <p:nvPr/>
        </p:nvSpPr>
        <p:spPr>
          <a:xfrm>
            <a:off x="12043613" y="5701830"/>
            <a:ext cx="2762250" cy="38815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Okay — I’ve saved that as an upcoming procedure.</a:t>
            </a:r>
          </a:p>
          <a:p>
            <a:r>
              <a:rPr lang="en-US" sz="800" b="1" dirty="0"/>
              <a:t>How are you feeling about it right now?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D4E8629-1161-DFE6-4F36-8EAD594B372C}"/>
              </a:ext>
            </a:extLst>
          </p:cNvPr>
          <p:cNvSpPr/>
          <p:nvPr/>
        </p:nvSpPr>
        <p:spPr>
          <a:xfrm>
            <a:off x="16030099" y="1601034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A bit anxious to be honest. I don’t really know what to expect.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1F15A32-51D1-1B95-D955-4E9B9AA4B8BE}"/>
              </a:ext>
            </a:extLst>
          </p:cNvPr>
          <p:cNvSpPr/>
          <p:nvPr/>
        </p:nvSpPr>
        <p:spPr>
          <a:xfrm>
            <a:off x="15686374" y="1913492"/>
            <a:ext cx="2762250" cy="1748891"/>
          </a:xfrm>
          <a:prstGeom prst="roundRect">
            <a:avLst>
              <a:gd name="adj" fmla="val 4571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That’s completely understandable. A lot of people feel anxious when there’s uncertainty.</a:t>
            </a:r>
          </a:p>
          <a:p>
            <a:endParaRPr lang="en-US" sz="800" b="1" dirty="0"/>
          </a:p>
          <a:p>
            <a:r>
              <a:rPr lang="en-US" sz="800" b="1" dirty="0"/>
              <a:t>We can take this one step at a time — and you can ask me anything, even if it feels small or obvious.</a:t>
            </a:r>
          </a:p>
          <a:p>
            <a:endParaRPr lang="en-US" sz="800" b="1" dirty="0"/>
          </a:p>
          <a:p>
            <a:r>
              <a:rPr lang="en-US" sz="800" b="1" dirty="0"/>
              <a:t>Have you been given any information so far, by your doctor?</a:t>
            </a:r>
          </a:p>
          <a:p>
            <a:r>
              <a:rPr lang="en-US" sz="800" b="1" dirty="0"/>
              <a:t>That could be:</a:t>
            </a:r>
            <a:br>
              <a:rPr lang="en-US" sz="800" b="1" dirty="0"/>
            </a:br>
            <a:r>
              <a:rPr lang="en-US" sz="800" b="1" dirty="0"/>
              <a:t>• a printed sheet</a:t>
            </a:r>
            <a:br>
              <a:rPr lang="en-US" sz="800" b="1" dirty="0"/>
            </a:br>
            <a:r>
              <a:rPr lang="en-US" sz="800" b="1" dirty="0"/>
              <a:t>• an email</a:t>
            </a:r>
            <a:br>
              <a:rPr lang="en-US" sz="800" b="1" dirty="0"/>
            </a:br>
            <a:r>
              <a:rPr lang="en-US" sz="800" b="1" dirty="0"/>
              <a:t>• a message in a patient portal</a:t>
            </a:r>
            <a:br>
              <a:rPr lang="en-US" sz="800" b="1" dirty="0"/>
            </a:br>
            <a:r>
              <a:rPr lang="en-US" sz="800" b="1" dirty="0"/>
              <a:t>• or notes you wrote yourself</a:t>
            </a: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903315EB-3E92-4329-2FD3-5E0F2C2302EA}"/>
              </a:ext>
            </a:extLst>
          </p:cNvPr>
          <p:cNvSpPr/>
          <p:nvPr/>
        </p:nvSpPr>
        <p:spPr>
          <a:xfrm>
            <a:off x="16022479" y="3731685"/>
            <a:ext cx="2543175" cy="4230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Yes, I’ve got an email from the hospital and a printed sheet they gave me. I think they say the same thing.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925884DD-3703-8D2C-3C8A-07D18778C8C7}"/>
              </a:ext>
            </a:extLst>
          </p:cNvPr>
          <p:cNvSpPr/>
          <p:nvPr/>
        </p:nvSpPr>
        <p:spPr>
          <a:xfrm>
            <a:off x="15718154" y="4258296"/>
            <a:ext cx="2762250" cy="82318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Great.</a:t>
            </a:r>
          </a:p>
          <a:p>
            <a:r>
              <a:rPr lang="en-US" sz="800" b="1" dirty="0"/>
              <a:t>You can either:</a:t>
            </a:r>
            <a:br>
              <a:rPr lang="en-US" sz="800" b="1" dirty="0"/>
            </a:br>
            <a:r>
              <a:rPr lang="en-US" sz="800" b="1" dirty="0"/>
              <a:t>• take a photo of the printed sheet, or</a:t>
            </a:r>
            <a:br>
              <a:rPr lang="en-US" sz="800" b="1" dirty="0"/>
            </a:br>
            <a:r>
              <a:rPr lang="en-US" sz="800" b="1" dirty="0"/>
              <a:t>• forward the email here: JeaneWCW21@wellbridge.com</a:t>
            </a:r>
          </a:p>
          <a:p>
            <a:r>
              <a:rPr lang="en-US" sz="800" b="1" dirty="0"/>
              <a:t>I’ll take care of organizing it.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3CFE2A8E-D6D1-66CF-2781-46D129CA17BD}"/>
              </a:ext>
            </a:extLst>
          </p:cNvPr>
          <p:cNvSpPr/>
          <p:nvPr/>
        </p:nvSpPr>
        <p:spPr>
          <a:xfrm>
            <a:off x="16022479" y="5149640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OK. Just sent the email.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91DECF68-5CD2-B5BA-D203-6B35CC77C364}"/>
              </a:ext>
            </a:extLst>
          </p:cNvPr>
          <p:cNvSpPr/>
          <p:nvPr/>
        </p:nvSpPr>
        <p:spPr>
          <a:xfrm>
            <a:off x="15718154" y="5542290"/>
            <a:ext cx="2762250" cy="53669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Got it — thank you.</a:t>
            </a:r>
          </a:p>
          <a:p>
            <a:r>
              <a:rPr lang="en-US" sz="800" b="1" dirty="0"/>
              <a:t>I’m reading through it now and will store it with your surgery details.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59E4B4B-9F27-981A-170E-55AD978CDB7D}"/>
              </a:ext>
            </a:extLst>
          </p:cNvPr>
          <p:cNvSpPr txBox="1"/>
          <p:nvPr/>
        </p:nvSpPr>
        <p:spPr>
          <a:xfrm>
            <a:off x="15481096" y="457983"/>
            <a:ext cx="3498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SCREEN 5 — CAPTURE NOTES SIMPLY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976E123-D3E3-110D-D23C-D23A75B376E7}"/>
              </a:ext>
            </a:extLst>
          </p:cNvPr>
          <p:cNvSpPr txBox="1"/>
          <p:nvPr/>
        </p:nvSpPr>
        <p:spPr>
          <a:xfrm>
            <a:off x="11745565" y="457983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4 — INITIAL INTRO [Cont.]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9D7F05-0DD3-1D1D-3D0F-BF1D2804B41F}"/>
              </a:ext>
            </a:extLst>
          </p:cNvPr>
          <p:cNvSpPr txBox="1"/>
          <p:nvPr/>
        </p:nvSpPr>
        <p:spPr>
          <a:xfrm>
            <a:off x="7968113" y="457983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3 — INITIAL INTRO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3D5B4C9-0EE4-2658-1466-E2A32C0CFFC0}"/>
              </a:ext>
            </a:extLst>
          </p:cNvPr>
          <p:cNvSpPr txBox="1"/>
          <p:nvPr/>
        </p:nvSpPr>
        <p:spPr>
          <a:xfrm>
            <a:off x="15686374" y="953988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884A3E9-63A3-EA39-ECA2-7E9D4CAC50D2}"/>
              </a:ext>
            </a:extLst>
          </p:cNvPr>
          <p:cNvSpPr txBox="1"/>
          <p:nvPr/>
        </p:nvSpPr>
        <p:spPr>
          <a:xfrm>
            <a:off x="15686851" y="1255366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D553B46-D70A-0672-C94E-F870151C11AA}"/>
              </a:ext>
            </a:extLst>
          </p:cNvPr>
          <p:cNvSpPr txBox="1"/>
          <p:nvPr/>
        </p:nvSpPr>
        <p:spPr>
          <a:xfrm>
            <a:off x="19387453" y="939243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1081822-EA91-139B-7CB6-FB5CAE2763FC}"/>
              </a:ext>
            </a:extLst>
          </p:cNvPr>
          <p:cNvSpPr txBox="1"/>
          <p:nvPr/>
        </p:nvSpPr>
        <p:spPr>
          <a:xfrm>
            <a:off x="19498155" y="1214362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7A8144A-9844-6355-CE70-8CF7DAA2B6F2}"/>
              </a:ext>
            </a:extLst>
          </p:cNvPr>
          <p:cNvCxnSpPr>
            <a:cxnSpLocks/>
          </p:cNvCxnSpPr>
          <p:nvPr/>
        </p:nvCxnSpPr>
        <p:spPr>
          <a:xfrm flipH="1">
            <a:off x="21765220" y="4127847"/>
            <a:ext cx="1256807" cy="3992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036F3A5-F07A-957F-F066-DCE19A479435}"/>
              </a:ext>
            </a:extLst>
          </p:cNvPr>
          <p:cNvSpPr txBox="1"/>
          <p:nvPr/>
        </p:nvSpPr>
        <p:spPr>
          <a:xfrm>
            <a:off x="23022027" y="3912675"/>
            <a:ext cx="1988116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(Design note: app avoids hallucinating; creates a follow-up task)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45F8F65-C62C-A413-5FEC-0797CBA28DC9}"/>
              </a:ext>
            </a:extLst>
          </p:cNvPr>
          <p:cNvCxnSpPr>
            <a:cxnSpLocks/>
          </p:cNvCxnSpPr>
          <p:nvPr/>
        </p:nvCxnSpPr>
        <p:spPr>
          <a:xfrm flipV="1">
            <a:off x="14205872" y="5995381"/>
            <a:ext cx="0" cy="1297951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876855F-57EC-5E8B-532D-7678AAE30959}"/>
              </a:ext>
            </a:extLst>
          </p:cNvPr>
          <p:cNvSpPr txBox="1"/>
          <p:nvPr/>
        </p:nvSpPr>
        <p:spPr>
          <a:xfrm>
            <a:off x="13331547" y="7299697"/>
            <a:ext cx="1988116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(Design note: app confirms facts before storing them); creates a follow-up task)</a:t>
            </a:r>
          </a:p>
          <a:p>
            <a:endParaRPr lang="en-US" sz="1000" dirty="0"/>
          </a:p>
          <a:p>
            <a:r>
              <a:rPr lang="en-US" sz="1000" dirty="0"/>
              <a:t>(Design note: emotional check early, before logistics)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74B8686-5A84-8F14-D8D1-98F1DAFDE229}"/>
              </a:ext>
            </a:extLst>
          </p:cNvPr>
          <p:cNvSpPr txBox="1"/>
          <p:nvPr/>
        </p:nvSpPr>
        <p:spPr>
          <a:xfrm>
            <a:off x="15861331" y="7289362"/>
            <a:ext cx="2543175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US" dirty="0"/>
              <a:t>(Design note: invisible processing, visible reassurance)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4B4C1DC-DA19-1A3E-CCC7-B4CF25D99217}"/>
              </a:ext>
            </a:extLst>
          </p:cNvPr>
          <p:cNvCxnSpPr>
            <a:cxnSpLocks/>
            <a:stCxn id="104" idx="0"/>
          </p:cNvCxnSpPr>
          <p:nvPr/>
        </p:nvCxnSpPr>
        <p:spPr>
          <a:xfrm flipH="1" flipV="1">
            <a:off x="17124016" y="5916973"/>
            <a:ext cx="8903" cy="1372389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2CF85DB-A471-90BE-8DA5-32060C48E372}"/>
              </a:ext>
            </a:extLst>
          </p:cNvPr>
          <p:cNvSpPr txBox="1"/>
          <p:nvPr/>
        </p:nvSpPr>
        <p:spPr>
          <a:xfrm>
            <a:off x="19238392" y="377191"/>
            <a:ext cx="3409003" cy="469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SCREEN 6 — SURFACE KEY INFO </a:t>
            </a:r>
          </a:p>
          <a:p>
            <a:pPr>
              <a:buNone/>
            </a:pPr>
            <a:r>
              <a:rPr lang="en-US" sz="1050" dirty="0"/>
              <a:t>(NOT EVERYTHING)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A43ACF8-F2A1-2E35-C1A8-52EBB2E9D502}"/>
              </a:ext>
            </a:extLst>
          </p:cNvPr>
          <p:cNvSpPr txBox="1"/>
          <p:nvPr/>
        </p:nvSpPr>
        <p:spPr>
          <a:xfrm>
            <a:off x="2861240" y="651355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Schedule</a:t>
            </a:r>
          </a:p>
        </p:txBody>
      </p:sp>
      <p:pic>
        <p:nvPicPr>
          <p:cNvPr id="114" name="Graphic 113" descr="Chat outline">
            <a:extLst>
              <a:ext uri="{FF2B5EF4-FFF2-40B4-BE49-F238E27FC236}">
                <a16:creationId xmlns:a16="http://schemas.microsoft.com/office/drawing/2014/main" id="{AA7BD9F8-1F44-013B-1785-28A4EC3D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927" y="6124176"/>
            <a:ext cx="376242" cy="376242"/>
          </a:xfrm>
          <a:prstGeom prst="rect">
            <a:avLst/>
          </a:prstGeom>
        </p:spPr>
      </p:pic>
      <p:pic>
        <p:nvPicPr>
          <p:cNvPr id="115" name="Graphic 114" descr="House outline">
            <a:extLst>
              <a:ext uri="{FF2B5EF4-FFF2-40B4-BE49-F238E27FC236}">
                <a16:creationId xmlns:a16="http://schemas.microsoft.com/office/drawing/2014/main" id="{C1EA80EA-9CAD-BD1C-5EE2-D99219A42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52" y="6124176"/>
            <a:ext cx="376242" cy="376242"/>
          </a:xfrm>
          <a:prstGeom prst="rect">
            <a:avLst/>
          </a:prstGeom>
        </p:spPr>
      </p:pic>
      <p:pic>
        <p:nvPicPr>
          <p:cNvPr id="116" name="Graphic 115" descr="Hike outline">
            <a:extLst>
              <a:ext uri="{FF2B5EF4-FFF2-40B4-BE49-F238E27FC236}">
                <a16:creationId xmlns:a16="http://schemas.microsoft.com/office/drawing/2014/main" id="{C178E070-4C38-6EFB-EFA6-1E8EFCE33C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7535" y="6124176"/>
            <a:ext cx="376242" cy="376242"/>
          </a:xfrm>
          <a:prstGeom prst="rect">
            <a:avLst/>
          </a:prstGeom>
        </p:spPr>
      </p:pic>
      <p:pic>
        <p:nvPicPr>
          <p:cNvPr id="117" name="Graphic 116" descr="Group of men outline">
            <a:extLst>
              <a:ext uri="{FF2B5EF4-FFF2-40B4-BE49-F238E27FC236}">
                <a16:creationId xmlns:a16="http://schemas.microsoft.com/office/drawing/2014/main" id="{2281D1BF-5CE5-E9DA-F7D2-78A4AE0786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12520" y="6124176"/>
            <a:ext cx="376242" cy="376242"/>
          </a:xfrm>
          <a:prstGeom prst="rect">
            <a:avLst/>
          </a:prstGeom>
        </p:spPr>
      </p:pic>
      <p:pic>
        <p:nvPicPr>
          <p:cNvPr id="118" name="Graphic 117" descr="Monthly calendar outline">
            <a:extLst>
              <a:ext uri="{FF2B5EF4-FFF2-40B4-BE49-F238E27FC236}">
                <a16:creationId xmlns:a16="http://schemas.microsoft.com/office/drawing/2014/main" id="{367F43A2-57DC-7F2B-6AA3-00FCA0264C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13811" y="6124176"/>
            <a:ext cx="376242" cy="376242"/>
          </a:xfrm>
          <a:prstGeom prst="rect">
            <a:avLst/>
          </a:prstGeom>
        </p:spPr>
      </p:pic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82918DC-992C-2A36-BA87-21C8F711CF0C}"/>
              </a:ext>
            </a:extLst>
          </p:cNvPr>
          <p:cNvCxnSpPr>
            <a:cxnSpLocks/>
          </p:cNvCxnSpPr>
          <p:nvPr/>
        </p:nvCxnSpPr>
        <p:spPr>
          <a:xfrm>
            <a:off x="4418845" y="5995381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945227E-044A-261F-77BD-D8F1732569BF}"/>
              </a:ext>
            </a:extLst>
          </p:cNvPr>
          <p:cNvSpPr txBox="1"/>
          <p:nvPr/>
        </p:nvSpPr>
        <p:spPr>
          <a:xfrm>
            <a:off x="4292353" y="6513552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Home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681130E-6888-CD86-D7DC-21682DCC37AA}"/>
              </a:ext>
            </a:extLst>
          </p:cNvPr>
          <p:cNvSpPr txBox="1"/>
          <p:nvPr/>
        </p:nvSpPr>
        <p:spPr>
          <a:xfrm>
            <a:off x="4860650" y="6513552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Talk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5BDC3B-E869-4932-76A3-B65E9F7EA2AF}"/>
              </a:ext>
            </a:extLst>
          </p:cNvPr>
          <p:cNvSpPr txBox="1"/>
          <p:nvPr/>
        </p:nvSpPr>
        <p:spPr>
          <a:xfrm>
            <a:off x="5293191" y="6513552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My Journey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2B06868-2CD4-CE9E-FE42-A51E30D11884}"/>
              </a:ext>
            </a:extLst>
          </p:cNvPr>
          <p:cNvSpPr txBox="1"/>
          <p:nvPr/>
        </p:nvSpPr>
        <p:spPr>
          <a:xfrm>
            <a:off x="6091785" y="6513552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People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268F0B5-D6ED-6133-9564-DA7A39414819}"/>
              </a:ext>
            </a:extLst>
          </p:cNvPr>
          <p:cNvSpPr txBox="1"/>
          <p:nvPr/>
        </p:nvSpPr>
        <p:spPr>
          <a:xfrm>
            <a:off x="6616938" y="651355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Schedule</a:t>
            </a:r>
          </a:p>
        </p:txBody>
      </p:sp>
      <p:pic>
        <p:nvPicPr>
          <p:cNvPr id="125" name="Graphic 124" descr="Chat outline">
            <a:extLst>
              <a:ext uri="{FF2B5EF4-FFF2-40B4-BE49-F238E27FC236}">
                <a16:creationId xmlns:a16="http://schemas.microsoft.com/office/drawing/2014/main" id="{662DD5FD-EEB9-C813-881C-5F04F09BB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625" y="6124176"/>
            <a:ext cx="376242" cy="376242"/>
          </a:xfrm>
          <a:prstGeom prst="rect">
            <a:avLst/>
          </a:prstGeom>
        </p:spPr>
      </p:pic>
      <p:pic>
        <p:nvPicPr>
          <p:cNvPr id="126" name="Graphic 125" descr="House outline">
            <a:extLst>
              <a:ext uri="{FF2B5EF4-FFF2-40B4-BE49-F238E27FC236}">
                <a16:creationId xmlns:a16="http://schemas.microsoft.com/office/drawing/2014/main" id="{A0B706B0-CC97-9797-1846-73CD3EE3B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1150" y="6124176"/>
            <a:ext cx="376242" cy="376242"/>
          </a:xfrm>
          <a:prstGeom prst="rect">
            <a:avLst/>
          </a:prstGeom>
        </p:spPr>
      </p:pic>
      <p:pic>
        <p:nvPicPr>
          <p:cNvPr id="127" name="Graphic 126" descr="Hike outline">
            <a:extLst>
              <a:ext uri="{FF2B5EF4-FFF2-40B4-BE49-F238E27FC236}">
                <a16:creationId xmlns:a16="http://schemas.microsoft.com/office/drawing/2014/main" id="{950D6449-C5F1-51D7-37EC-A3C32791C7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3233" y="6124176"/>
            <a:ext cx="376242" cy="376242"/>
          </a:xfrm>
          <a:prstGeom prst="rect">
            <a:avLst/>
          </a:prstGeom>
        </p:spPr>
      </p:pic>
      <p:pic>
        <p:nvPicPr>
          <p:cNvPr id="128" name="Graphic 127" descr="Group of men outline">
            <a:extLst>
              <a:ext uri="{FF2B5EF4-FFF2-40B4-BE49-F238E27FC236}">
                <a16:creationId xmlns:a16="http://schemas.microsoft.com/office/drawing/2014/main" id="{2228C445-2876-E3A4-3C61-B8698483DD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8218" y="6124176"/>
            <a:ext cx="376242" cy="376242"/>
          </a:xfrm>
          <a:prstGeom prst="rect">
            <a:avLst/>
          </a:prstGeom>
        </p:spPr>
      </p:pic>
      <p:pic>
        <p:nvPicPr>
          <p:cNvPr id="129" name="Graphic 128" descr="Monthly calendar outline">
            <a:extLst>
              <a:ext uri="{FF2B5EF4-FFF2-40B4-BE49-F238E27FC236}">
                <a16:creationId xmlns:a16="http://schemas.microsoft.com/office/drawing/2014/main" id="{3867CE2A-A2F3-1972-186D-83041DE016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69509" y="6124176"/>
            <a:ext cx="376242" cy="376242"/>
          </a:xfrm>
          <a:prstGeom prst="rect">
            <a:avLst/>
          </a:prstGeom>
        </p:spPr>
      </p:pic>
      <p:sp>
        <p:nvSpPr>
          <p:cNvPr id="130" name="TextBox 129">
            <a:extLst>
              <a:ext uri="{FF2B5EF4-FFF2-40B4-BE49-F238E27FC236}">
                <a16:creationId xmlns:a16="http://schemas.microsoft.com/office/drawing/2014/main" id="{FA50AF25-BBCE-ED5A-7AD2-DD6B9F07D7A4}"/>
              </a:ext>
            </a:extLst>
          </p:cNvPr>
          <p:cNvSpPr txBox="1"/>
          <p:nvPr/>
        </p:nvSpPr>
        <p:spPr>
          <a:xfrm>
            <a:off x="430535" y="7563047"/>
            <a:ext cx="2985337" cy="4862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Home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This page shown 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Calm status 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 “What’s coming up”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1000" b="1" dirty="0"/>
              <a:t>Talk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Always opens the conversation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No settings, no modes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1000" b="1" dirty="0"/>
              <a:t>My Journey [see later slide for detail]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Past 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Recordings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Summaries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Medication List</a:t>
            </a:r>
          </a:p>
          <a:p>
            <a:pPr>
              <a:buNone/>
            </a:pPr>
            <a:endParaRPr lang="en-US" sz="1000" b="1" dirty="0"/>
          </a:p>
          <a:p>
            <a:pPr>
              <a:buNone/>
            </a:pPr>
            <a:r>
              <a:rPr lang="en-US" sz="1000" b="1" dirty="0"/>
              <a:t>People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Doctor(s)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Caregivers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Family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Sharing permissions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“Who sees what”</a:t>
            </a:r>
          </a:p>
          <a:p>
            <a:pPr>
              <a:buNone/>
            </a:pPr>
            <a:endParaRPr lang="en-US" sz="1000" dirty="0"/>
          </a:p>
          <a:p>
            <a:pPr>
              <a:buNone/>
            </a:pPr>
            <a:r>
              <a:rPr lang="en-US" sz="1000" b="1" dirty="0"/>
              <a:t>Schedule</a:t>
            </a:r>
            <a:endParaRPr lang="en-US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Upcoming appointments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Medication 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Follow-ups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 dirty="0"/>
              <a:t>Past + future view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0EE578E8-8EE1-F11E-0A2D-07C7E394C67C}"/>
              </a:ext>
            </a:extLst>
          </p:cNvPr>
          <p:cNvCxnSpPr>
            <a:cxnSpLocks/>
          </p:cNvCxnSpPr>
          <p:nvPr/>
        </p:nvCxnSpPr>
        <p:spPr>
          <a:xfrm flipH="1" flipV="1">
            <a:off x="1995241" y="6775279"/>
            <a:ext cx="10265" cy="792115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2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B608C-E382-1416-CD3E-E8A59860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BEA60A-8A7A-8BD1-8343-62D31949E522}"/>
              </a:ext>
            </a:extLst>
          </p:cNvPr>
          <p:cNvSpPr/>
          <p:nvPr/>
        </p:nvSpPr>
        <p:spPr>
          <a:xfrm>
            <a:off x="373943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B91DF7-7DAA-0B79-1BF2-E6E2ECEA09B5}"/>
              </a:ext>
            </a:extLst>
          </p:cNvPr>
          <p:cNvSpPr/>
          <p:nvPr/>
        </p:nvSpPr>
        <p:spPr>
          <a:xfrm>
            <a:off x="4157576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175D756-ECEC-8D4E-AB34-8237CDAC7303}"/>
              </a:ext>
            </a:extLst>
          </p:cNvPr>
          <p:cNvSpPr/>
          <p:nvPr/>
        </p:nvSpPr>
        <p:spPr>
          <a:xfrm>
            <a:off x="7900899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0DDA41-2779-5A60-3FDF-DCDA59B8C83F}"/>
              </a:ext>
            </a:extLst>
          </p:cNvPr>
          <p:cNvSpPr txBox="1"/>
          <p:nvPr/>
        </p:nvSpPr>
        <p:spPr>
          <a:xfrm>
            <a:off x="559230" y="943253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349232-B7F8-D61B-FA58-B3D27FD07795}"/>
              </a:ext>
            </a:extLst>
          </p:cNvPr>
          <p:cNvSpPr txBox="1"/>
          <p:nvPr/>
        </p:nvSpPr>
        <p:spPr>
          <a:xfrm>
            <a:off x="559707" y="1244631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44D2B7-8586-4A18-108D-E5793B848790}"/>
              </a:ext>
            </a:extLst>
          </p:cNvPr>
          <p:cNvSpPr txBox="1"/>
          <p:nvPr/>
        </p:nvSpPr>
        <p:spPr>
          <a:xfrm>
            <a:off x="4293030" y="913190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E82064-04B4-7EB0-3A8A-AFBB033B6BB9}"/>
              </a:ext>
            </a:extLst>
          </p:cNvPr>
          <p:cNvSpPr txBox="1"/>
          <p:nvPr/>
        </p:nvSpPr>
        <p:spPr>
          <a:xfrm>
            <a:off x="4293507" y="1214568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984998-D0E7-62E5-0CC8-ED130C05D9A9}"/>
              </a:ext>
            </a:extLst>
          </p:cNvPr>
          <p:cNvSpPr txBox="1"/>
          <p:nvPr/>
        </p:nvSpPr>
        <p:spPr>
          <a:xfrm>
            <a:off x="101007" y="68000"/>
            <a:ext cx="1307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Scenario 1A. Patient: Jeane (ablation surgery). Context: First interaction, surgery upcoming, Chat cont.</a:t>
            </a:r>
            <a:endParaRPr lang="en-US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1B2CF5E-6081-A35E-8E82-A31B2E4D5DB0}"/>
              </a:ext>
            </a:extLst>
          </p:cNvPr>
          <p:cNvSpPr txBox="1"/>
          <p:nvPr/>
        </p:nvSpPr>
        <p:spPr>
          <a:xfrm>
            <a:off x="7900899" y="458133"/>
            <a:ext cx="87484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SCREEN 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F35E253-6D70-1346-C3CB-28F08D27FF11}"/>
              </a:ext>
            </a:extLst>
          </p:cNvPr>
          <p:cNvSpPr txBox="1"/>
          <p:nvPr/>
        </p:nvSpPr>
        <p:spPr>
          <a:xfrm>
            <a:off x="4165368" y="403690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8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FA4FAE6-A38A-E5D5-8567-434F272760B0}"/>
              </a:ext>
            </a:extLst>
          </p:cNvPr>
          <p:cNvSpPr txBox="1"/>
          <p:nvPr/>
        </p:nvSpPr>
        <p:spPr>
          <a:xfrm>
            <a:off x="387916" y="429365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E71ECE-645C-3632-8392-DDE8E79BF196}"/>
              </a:ext>
            </a:extLst>
          </p:cNvPr>
          <p:cNvSpPr txBox="1"/>
          <p:nvPr/>
        </p:nvSpPr>
        <p:spPr>
          <a:xfrm>
            <a:off x="8092204" y="936854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4817BE-2BE8-B18C-048E-CA2537529ED5}"/>
              </a:ext>
            </a:extLst>
          </p:cNvPr>
          <p:cNvSpPr txBox="1"/>
          <p:nvPr/>
        </p:nvSpPr>
        <p:spPr>
          <a:xfrm>
            <a:off x="8092681" y="1238232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DC190EF-8224-2D4E-B6B9-D2EB6634D34E}"/>
              </a:ext>
            </a:extLst>
          </p:cNvPr>
          <p:cNvSpPr txBox="1"/>
          <p:nvPr/>
        </p:nvSpPr>
        <p:spPr>
          <a:xfrm>
            <a:off x="4157576" y="7289362"/>
            <a:ext cx="3208419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(Design note: Without interrupting the flow, the app should: </a:t>
            </a:r>
          </a:p>
          <a:p>
            <a:r>
              <a:rPr lang="en-US" sz="1000" dirty="0"/>
              <a:t>Record: “Asked about side-effects (pre-procedure)”</a:t>
            </a:r>
          </a:p>
          <a:p>
            <a:r>
              <a:rPr lang="en-US" sz="1000" dirty="0"/>
              <a:t>Tag it as: Pre-op concerns / risk expectations</a:t>
            </a:r>
          </a:p>
          <a:p>
            <a:r>
              <a:rPr lang="en-US" sz="1000" dirty="0"/>
              <a:t>Add it to a “Questions to confirm with doctor” list</a:t>
            </a:r>
          </a:p>
          <a:p>
            <a:r>
              <a:rPr lang="en-US" sz="1000" dirty="0"/>
              <a:t>⚠️ No alerts. No instructions. No medical judgment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1937EA-2191-9AC9-7629-4A1BD9513AE0}"/>
              </a:ext>
            </a:extLst>
          </p:cNvPr>
          <p:cNvSpPr/>
          <p:nvPr/>
        </p:nvSpPr>
        <p:spPr>
          <a:xfrm>
            <a:off x="838937" y="3339958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They said I should stop one of my heart tablets the night before, but I can’t remember which one.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62F491-A0C0-57CD-59EF-C0FA0525BBB0}"/>
              </a:ext>
            </a:extLst>
          </p:cNvPr>
          <p:cNvSpPr/>
          <p:nvPr/>
        </p:nvSpPr>
        <p:spPr>
          <a:xfrm>
            <a:off x="586302" y="1634764"/>
            <a:ext cx="2665197" cy="1642576"/>
          </a:xfrm>
          <a:prstGeom prst="roundRect">
            <a:avLst>
              <a:gd name="adj" fmla="val 6049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Here are the important points I see in the email:</a:t>
            </a:r>
            <a:br>
              <a:rPr lang="en-US" sz="800" b="1" dirty="0"/>
            </a:br>
            <a:r>
              <a:rPr lang="en-US" sz="800" b="1" dirty="0"/>
              <a:t>• The procedure is planned as a day admission</a:t>
            </a:r>
            <a:br>
              <a:rPr lang="en-US" sz="800" b="1" dirty="0"/>
            </a:br>
            <a:r>
              <a:rPr lang="en-US" sz="800" b="1" dirty="0"/>
              <a:t>• You’ll need to fast from midnight the night before</a:t>
            </a:r>
            <a:br>
              <a:rPr lang="en-US" sz="800" b="1" dirty="0"/>
            </a:br>
            <a:r>
              <a:rPr lang="en-US" sz="800" b="1" dirty="0"/>
              <a:t>• You should continue most medications, but stop eating and drinking as instructed</a:t>
            </a:r>
          </a:p>
          <a:p>
            <a:endParaRPr lang="en-US" sz="800" b="1" dirty="0"/>
          </a:p>
          <a:p>
            <a:r>
              <a:rPr lang="en-US" sz="800" b="1" dirty="0"/>
              <a:t>I’ll keep the full details saved, but you don’t need to remember all of this.</a:t>
            </a:r>
          </a:p>
          <a:p>
            <a:endParaRPr lang="en-US" sz="800" b="1" dirty="0"/>
          </a:p>
          <a:p>
            <a:r>
              <a:rPr lang="en-US" sz="800" b="1" dirty="0"/>
              <a:t>Did anyone mention changes to your medications — either stopping something or starting something new?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FD6A26-4C2A-0917-27CD-65C4B97C320B}"/>
              </a:ext>
            </a:extLst>
          </p:cNvPr>
          <p:cNvSpPr/>
          <p:nvPr/>
        </p:nvSpPr>
        <p:spPr>
          <a:xfrm>
            <a:off x="586302" y="3661032"/>
            <a:ext cx="2665197" cy="1562203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That’s okay — we don’t need to guess.</a:t>
            </a:r>
          </a:p>
          <a:p>
            <a:r>
              <a:rPr lang="en-US" sz="800" b="1" dirty="0"/>
              <a:t>I’ll flag that as something to clarify, and when we get closer to Tuesday I’ll remind you to double-check with the clinic.</a:t>
            </a:r>
          </a:p>
          <a:p>
            <a:endParaRPr lang="en-US" sz="800" b="1" dirty="0"/>
          </a:p>
          <a:p>
            <a:r>
              <a:rPr lang="en-US" sz="800" b="1" dirty="0"/>
              <a:t>Between now and Tuesday, I can:</a:t>
            </a:r>
            <a:br>
              <a:rPr lang="en-US" sz="800" b="1" dirty="0"/>
            </a:br>
            <a:r>
              <a:rPr lang="en-US" sz="800" b="1" dirty="0"/>
              <a:t>• check in on how you’re feeling</a:t>
            </a:r>
            <a:br>
              <a:rPr lang="en-US" sz="800" b="1" dirty="0"/>
            </a:br>
            <a:r>
              <a:rPr lang="en-US" sz="800" b="1" dirty="0"/>
              <a:t>• help you prepare questions for your doctor</a:t>
            </a:r>
            <a:br>
              <a:rPr lang="en-US" sz="800" b="1" dirty="0"/>
            </a:br>
            <a:r>
              <a:rPr lang="en-US" sz="800" b="1" dirty="0"/>
              <a:t>• remind you about instructions</a:t>
            </a:r>
          </a:p>
          <a:p>
            <a:r>
              <a:rPr lang="en-US" sz="800" b="1" dirty="0"/>
              <a:t>Or we can just talk whenever you feel like it.</a:t>
            </a:r>
          </a:p>
          <a:p>
            <a:r>
              <a:rPr lang="en-US" sz="800" b="1" dirty="0"/>
              <a:t>What would be most helpful for you?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CEB5DD-A73B-8D1B-5A3D-F92F1376F595}"/>
              </a:ext>
            </a:extLst>
          </p:cNvPr>
          <p:cNvSpPr/>
          <p:nvPr/>
        </p:nvSpPr>
        <p:spPr>
          <a:xfrm>
            <a:off x="834642" y="5339762"/>
            <a:ext cx="2543175" cy="2736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Just check in on me. I don’t want too many reminders.</a:t>
            </a:r>
            <a:endParaRPr lang="en-US" sz="8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FEBD8E8-A057-5542-AF33-B7BBB8BA58FE}"/>
              </a:ext>
            </a:extLst>
          </p:cNvPr>
          <p:cNvSpPr/>
          <p:nvPr/>
        </p:nvSpPr>
        <p:spPr>
          <a:xfrm>
            <a:off x="586301" y="5697293"/>
            <a:ext cx="2665197" cy="731342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Got it. I’ll keep things light and only step in when it’s useful.</a:t>
            </a:r>
          </a:p>
          <a:p>
            <a:r>
              <a:rPr lang="en-US" sz="800" dirty="0"/>
              <a:t>And if that ever changes, just tell me.</a:t>
            </a:r>
          </a:p>
          <a:p>
            <a:endParaRPr lang="en-US" sz="800" dirty="0"/>
          </a:p>
          <a:p>
            <a:r>
              <a:rPr lang="en-US" sz="800" dirty="0"/>
              <a:t>Would you like a simple explanation of what an ablation is, or would you rather leave that for now?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9BACB1F-5678-3233-ACA2-535F77362D8E}"/>
              </a:ext>
            </a:extLst>
          </p:cNvPr>
          <p:cNvSpPr/>
          <p:nvPr/>
        </p:nvSpPr>
        <p:spPr>
          <a:xfrm>
            <a:off x="4618275" y="1694028"/>
            <a:ext cx="2543175" cy="1750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A simple explanation. </a:t>
            </a:r>
            <a:endParaRPr lang="en-US" sz="8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312CEEB-6F59-B090-1285-FFF6CB7D39F4}"/>
              </a:ext>
            </a:extLst>
          </p:cNvPr>
          <p:cNvSpPr/>
          <p:nvPr/>
        </p:nvSpPr>
        <p:spPr>
          <a:xfrm>
            <a:off x="4293030" y="1962555"/>
            <a:ext cx="2665197" cy="1008396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An ablation is a procedure where doctors treat small areas of heart tissue that are causing an abnormal rhythm.</a:t>
            </a:r>
          </a:p>
          <a:p>
            <a:r>
              <a:rPr lang="en-US" sz="800" dirty="0"/>
              <a:t>They use thin tubes passed through a vein (usually in the groin) to reach the heart, and carefully correct the electrical signals.</a:t>
            </a:r>
          </a:p>
          <a:p>
            <a:r>
              <a:rPr lang="en-US" sz="800" dirty="0"/>
              <a:t>Most people don’t feel anything during the procedure itself because they’re sedated.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B88A0AD-A4A9-BC22-E869-C799C13E2DC8}"/>
              </a:ext>
            </a:extLst>
          </p:cNvPr>
          <p:cNvSpPr/>
          <p:nvPr/>
        </p:nvSpPr>
        <p:spPr>
          <a:xfrm>
            <a:off x="4672044" y="3054796"/>
            <a:ext cx="2543175" cy="1750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Are there any side-effects after it? </a:t>
            </a:r>
            <a:endParaRPr lang="en-US" sz="800" b="1" dirty="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0CB3D13-2E96-A213-0552-987EA356236C}"/>
              </a:ext>
            </a:extLst>
          </p:cNvPr>
          <p:cNvSpPr/>
          <p:nvPr/>
        </p:nvSpPr>
        <p:spPr>
          <a:xfrm>
            <a:off x="4308016" y="3277340"/>
            <a:ext cx="2665197" cy="2887573"/>
          </a:xfrm>
          <a:prstGeom prst="roundRect">
            <a:avLst>
              <a:gd name="adj" fmla="val 5122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/>
              <a:t>That’s a really common and sensible question.</a:t>
            </a:r>
          </a:p>
          <a:p>
            <a:pPr>
              <a:buNone/>
            </a:pPr>
            <a:r>
              <a:rPr lang="en-US" sz="800" dirty="0"/>
              <a:t>After an ablation, many people experience </a:t>
            </a:r>
            <a:r>
              <a:rPr lang="en-US" sz="800" b="1" dirty="0"/>
              <a:t>temporary effects</a:t>
            </a:r>
            <a:r>
              <a:rPr lang="en-US" sz="800" dirty="0"/>
              <a:t> as the heart and body recover. These often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Tiredness for a few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Mild chest discomfort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Short episodes of palpitations or fluttering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 sore throat (from the breathing tube used during anesthesia)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Bruising or tenderness where the catheter goes in (usually the groin)</a:t>
            </a:r>
          </a:p>
          <a:p>
            <a:pPr>
              <a:buNone/>
            </a:pPr>
            <a:r>
              <a:rPr lang="en-US" sz="800" dirty="0"/>
              <a:t>These usually improve over </a:t>
            </a:r>
            <a:r>
              <a:rPr lang="en-US" sz="800" b="1" dirty="0"/>
              <a:t>days to a couple of weeks</a:t>
            </a:r>
            <a:r>
              <a:rPr lang="en-US" sz="800" dirty="0"/>
              <a:t>.</a:t>
            </a:r>
          </a:p>
          <a:p>
            <a:pPr>
              <a:buNone/>
            </a:pPr>
            <a:r>
              <a:rPr lang="en-US" sz="800" dirty="0"/>
              <a:t>There are also </a:t>
            </a:r>
            <a:r>
              <a:rPr lang="en-US" sz="800" b="1" dirty="0"/>
              <a:t>less common but important risks</a:t>
            </a:r>
            <a:r>
              <a:rPr lang="en-US" sz="800" dirty="0"/>
              <a:t>, which your doctor should go through with you — things like bleeding, infection, or heart rhythm issues. Your care team will monitor closely to reduce these risks.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If you’d like, I can help you: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keep this question on your list for the appointment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or help you think through follow-up questions to ask your doctor</a:t>
            </a:r>
          </a:p>
          <a:p>
            <a:pPr>
              <a:buNone/>
            </a:pPr>
            <a:r>
              <a:rPr lang="en-US" sz="800" dirty="0"/>
              <a:t>Would you like to do either of those?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BAEF1129-CBA5-45C2-D588-A609A19A1BAB}"/>
              </a:ext>
            </a:extLst>
          </p:cNvPr>
          <p:cNvSpPr/>
          <p:nvPr/>
        </p:nvSpPr>
        <p:spPr>
          <a:xfrm>
            <a:off x="8416313" y="1752341"/>
            <a:ext cx="2543175" cy="1750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Please make a note to ask my doctor</a:t>
            </a:r>
            <a:endParaRPr lang="en-US" sz="800" b="1" dirty="0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BFF9FDC0-1694-4664-3828-B7813F07119F}"/>
              </a:ext>
            </a:extLst>
          </p:cNvPr>
          <p:cNvSpPr/>
          <p:nvPr/>
        </p:nvSpPr>
        <p:spPr>
          <a:xfrm>
            <a:off x="8092204" y="1962555"/>
            <a:ext cx="2665197" cy="733542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/>
              <a:t>I’ve saved this as something to confirm with your doctor before the procedure.</a:t>
            </a:r>
          </a:p>
          <a:p>
            <a:pPr>
              <a:buNone/>
            </a:pPr>
            <a:r>
              <a:rPr lang="en-US" sz="800" dirty="0"/>
              <a:t>If more questions pop up — big or small — you can just tell me. I’ll help you keep track so nothing gets missed.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CC830629-98D9-DCEA-EA7F-879C9A9D43B8}"/>
              </a:ext>
            </a:extLst>
          </p:cNvPr>
          <p:cNvCxnSpPr>
            <a:cxnSpLocks/>
          </p:cNvCxnSpPr>
          <p:nvPr/>
        </p:nvCxnSpPr>
        <p:spPr>
          <a:xfrm flipV="1">
            <a:off x="6611702" y="5978247"/>
            <a:ext cx="0" cy="1297951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54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BCE7-1006-5492-1219-9D24E9AE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ED2127-1A0C-0302-FDF1-A4E0D8C14021}"/>
              </a:ext>
            </a:extLst>
          </p:cNvPr>
          <p:cNvSpPr/>
          <p:nvPr/>
        </p:nvSpPr>
        <p:spPr>
          <a:xfrm>
            <a:off x="441157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7D002-5F52-F7EE-63A6-A385CDFAB93E}"/>
              </a:ext>
            </a:extLst>
          </p:cNvPr>
          <p:cNvSpPr txBox="1"/>
          <p:nvPr/>
        </p:nvSpPr>
        <p:spPr>
          <a:xfrm>
            <a:off x="552450" y="923925"/>
            <a:ext cx="1239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54F9B3-42E8-85C8-F61A-8ABEAC87E4AE}"/>
              </a:ext>
            </a:extLst>
          </p:cNvPr>
          <p:cNvSpPr/>
          <p:nvPr/>
        </p:nvSpPr>
        <p:spPr>
          <a:xfrm>
            <a:off x="669003" y="1747689"/>
            <a:ext cx="2752725" cy="381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Ask or Say Anything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A6C3D0-EEAB-D5FF-89B0-F9D1602DA770}"/>
              </a:ext>
            </a:extLst>
          </p:cNvPr>
          <p:cNvSpPr/>
          <p:nvPr/>
        </p:nvSpPr>
        <p:spPr>
          <a:xfrm>
            <a:off x="668998" y="2746474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Actions / Reminders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Review medication instructions before Tuesday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Fast from midnight before surgery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Schedule Pick-up and Drop-off from Hospital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D097B-1A39-9BD9-4A2E-F870100AE197}"/>
              </a:ext>
            </a:extLst>
          </p:cNvPr>
          <p:cNvSpPr txBox="1"/>
          <p:nvPr/>
        </p:nvSpPr>
        <p:spPr>
          <a:xfrm>
            <a:off x="552450" y="1261765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HOME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A11EB3-9407-148F-615B-C7FD2FEE4E1C}"/>
              </a:ext>
            </a:extLst>
          </p:cNvPr>
          <p:cNvCxnSpPr/>
          <p:nvPr/>
        </p:nvCxnSpPr>
        <p:spPr>
          <a:xfrm>
            <a:off x="669003" y="2362200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EA8625-A430-2C60-5EA6-7781863B418B}"/>
              </a:ext>
            </a:extLst>
          </p:cNvPr>
          <p:cNvCxnSpPr/>
          <p:nvPr/>
        </p:nvCxnSpPr>
        <p:spPr>
          <a:xfrm>
            <a:off x="669001" y="3934213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0922F14-25DE-A346-98AE-C71584487D32}"/>
              </a:ext>
            </a:extLst>
          </p:cNvPr>
          <p:cNvSpPr/>
          <p:nvPr/>
        </p:nvSpPr>
        <p:spPr>
          <a:xfrm>
            <a:off x="668999" y="4054077"/>
            <a:ext cx="2752725" cy="1365052"/>
          </a:xfrm>
          <a:prstGeom prst="roundRect">
            <a:avLst>
              <a:gd name="adj" fmla="val 620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rgbClr val="002060"/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Upcoming Events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Cardiac ablation — Tuesday, October 3</a:t>
            </a:r>
            <a:r>
              <a:rPr lang="en-US" sz="1200" baseline="30000" dirty="0">
                <a:solidFill>
                  <a:srgbClr val="002060"/>
                </a:solidFill>
              </a:rPr>
              <a:t>rd</a:t>
            </a:r>
            <a:r>
              <a:rPr lang="en-US" sz="1200" dirty="0">
                <a:solidFill>
                  <a:srgbClr val="002060"/>
                </a:solidFill>
              </a:rPr>
              <a:t>, 9am ET, St Mary’s</a:t>
            </a: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  <a:p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4F74E-15FF-07AD-0B6D-8EB814D08AAF}"/>
              </a:ext>
            </a:extLst>
          </p:cNvPr>
          <p:cNvSpPr txBox="1"/>
          <p:nvPr/>
        </p:nvSpPr>
        <p:spPr>
          <a:xfrm>
            <a:off x="374490" y="471977"/>
            <a:ext cx="59725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10— UPCOMING ACTIONS &amp; EVENTS APPEAR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7D0B66-3A07-9A5E-4D7E-328CF9696195}"/>
              </a:ext>
            </a:extLst>
          </p:cNvPr>
          <p:cNvSpPr txBox="1"/>
          <p:nvPr/>
        </p:nvSpPr>
        <p:spPr>
          <a:xfrm>
            <a:off x="49408" y="61035"/>
            <a:ext cx="662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At this point if user navigates away from CHAT, they will find…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C331963-9D08-E292-D881-DB5BC89C3868}"/>
              </a:ext>
            </a:extLst>
          </p:cNvPr>
          <p:cNvCxnSpPr>
            <a:cxnSpLocks/>
          </p:cNvCxnSpPr>
          <p:nvPr/>
        </p:nvCxnSpPr>
        <p:spPr>
          <a:xfrm>
            <a:off x="663147" y="5995381"/>
            <a:ext cx="27527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421C1E8-04AD-EAF8-ACED-D268BED53304}"/>
              </a:ext>
            </a:extLst>
          </p:cNvPr>
          <p:cNvSpPr txBox="1"/>
          <p:nvPr/>
        </p:nvSpPr>
        <p:spPr>
          <a:xfrm>
            <a:off x="536655" y="6513552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Home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2BB4F0-B47A-39DC-58CC-7CCB91D70696}"/>
              </a:ext>
            </a:extLst>
          </p:cNvPr>
          <p:cNvSpPr txBox="1"/>
          <p:nvPr/>
        </p:nvSpPr>
        <p:spPr>
          <a:xfrm>
            <a:off x="1104952" y="6513552"/>
            <a:ext cx="4331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Talk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722FEF-2313-01E0-CB82-4E3AEA2B97C9}"/>
              </a:ext>
            </a:extLst>
          </p:cNvPr>
          <p:cNvSpPr txBox="1"/>
          <p:nvPr/>
        </p:nvSpPr>
        <p:spPr>
          <a:xfrm>
            <a:off x="1537493" y="6513552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My Journey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9F21B3-2558-4FDB-71ED-3B0CCAE3B7A3}"/>
              </a:ext>
            </a:extLst>
          </p:cNvPr>
          <p:cNvSpPr txBox="1"/>
          <p:nvPr/>
        </p:nvSpPr>
        <p:spPr>
          <a:xfrm>
            <a:off x="2336087" y="6513552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People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7B0DB5-1035-4468-DC4E-354C05011837}"/>
              </a:ext>
            </a:extLst>
          </p:cNvPr>
          <p:cNvSpPr txBox="1"/>
          <p:nvPr/>
        </p:nvSpPr>
        <p:spPr>
          <a:xfrm>
            <a:off x="2861240" y="6513552"/>
            <a:ext cx="7585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Schedule</a:t>
            </a:r>
          </a:p>
        </p:txBody>
      </p:sp>
      <p:pic>
        <p:nvPicPr>
          <p:cNvPr id="65" name="Graphic 64" descr="Chat outline">
            <a:extLst>
              <a:ext uri="{FF2B5EF4-FFF2-40B4-BE49-F238E27FC236}">
                <a16:creationId xmlns:a16="http://schemas.microsoft.com/office/drawing/2014/main" id="{5ACE8863-0752-A1DE-718F-7ACC88518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927" y="6124176"/>
            <a:ext cx="376242" cy="376242"/>
          </a:xfrm>
          <a:prstGeom prst="rect">
            <a:avLst/>
          </a:prstGeom>
        </p:spPr>
      </p:pic>
      <p:pic>
        <p:nvPicPr>
          <p:cNvPr id="66" name="Graphic 65" descr="House outline">
            <a:extLst>
              <a:ext uri="{FF2B5EF4-FFF2-40B4-BE49-F238E27FC236}">
                <a16:creationId xmlns:a16="http://schemas.microsoft.com/office/drawing/2014/main" id="{64CE94E8-BB34-B9C8-1AB7-A4A61401D7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452" y="6124176"/>
            <a:ext cx="376242" cy="376242"/>
          </a:xfrm>
          <a:prstGeom prst="rect">
            <a:avLst/>
          </a:prstGeom>
        </p:spPr>
      </p:pic>
      <p:pic>
        <p:nvPicPr>
          <p:cNvPr id="67" name="Graphic 66" descr="Hike outline">
            <a:extLst>
              <a:ext uri="{FF2B5EF4-FFF2-40B4-BE49-F238E27FC236}">
                <a16:creationId xmlns:a16="http://schemas.microsoft.com/office/drawing/2014/main" id="{D6834829-A68A-963A-A76F-6E7CCB939E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7535" y="6124176"/>
            <a:ext cx="376242" cy="376242"/>
          </a:xfrm>
          <a:prstGeom prst="rect">
            <a:avLst/>
          </a:prstGeom>
        </p:spPr>
      </p:pic>
      <p:pic>
        <p:nvPicPr>
          <p:cNvPr id="68" name="Graphic 67" descr="Group of men outline">
            <a:extLst>
              <a:ext uri="{FF2B5EF4-FFF2-40B4-BE49-F238E27FC236}">
                <a16:creationId xmlns:a16="http://schemas.microsoft.com/office/drawing/2014/main" id="{91A799E8-498D-4875-4425-581483551D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12520" y="6124176"/>
            <a:ext cx="376242" cy="376242"/>
          </a:xfrm>
          <a:prstGeom prst="rect">
            <a:avLst/>
          </a:prstGeom>
        </p:spPr>
      </p:pic>
      <p:pic>
        <p:nvPicPr>
          <p:cNvPr id="69" name="Graphic 68" descr="Monthly calendar outline">
            <a:extLst>
              <a:ext uri="{FF2B5EF4-FFF2-40B4-BE49-F238E27FC236}">
                <a16:creationId xmlns:a16="http://schemas.microsoft.com/office/drawing/2014/main" id="{E6781D23-C524-C85C-EF15-64788246BC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13811" y="6124176"/>
            <a:ext cx="376242" cy="37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3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934F-9CCF-D51F-1ACC-1051C25E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B3A41A-E85F-8F13-4E7D-4B008AA46AA3}"/>
              </a:ext>
            </a:extLst>
          </p:cNvPr>
          <p:cNvSpPr/>
          <p:nvPr/>
        </p:nvSpPr>
        <p:spPr>
          <a:xfrm>
            <a:off x="373943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E09598-F547-12A9-63FA-B593A38CA3DA}"/>
              </a:ext>
            </a:extLst>
          </p:cNvPr>
          <p:cNvSpPr/>
          <p:nvPr/>
        </p:nvSpPr>
        <p:spPr>
          <a:xfrm>
            <a:off x="4157576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C90571-B4D2-E0BD-69DF-9DAE5A57BBDE}"/>
              </a:ext>
            </a:extLst>
          </p:cNvPr>
          <p:cNvSpPr txBox="1"/>
          <p:nvPr/>
        </p:nvSpPr>
        <p:spPr>
          <a:xfrm>
            <a:off x="559230" y="943253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56A577-DC7E-774B-F1CC-1087B4BF5493}"/>
              </a:ext>
            </a:extLst>
          </p:cNvPr>
          <p:cNvSpPr txBox="1"/>
          <p:nvPr/>
        </p:nvSpPr>
        <p:spPr>
          <a:xfrm>
            <a:off x="559707" y="1244631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83EC13-C016-C71F-7D94-88FB92101D23}"/>
              </a:ext>
            </a:extLst>
          </p:cNvPr>
          <p:cNvSpPr txBox="1"/>
          <p:nvPr/>
        </p:nvSpPr>
        <p:spPr>
          <a:xfrm>
            <a:off x="4293030" y="913190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90BE43-5E8F-7D8C-A14A-95DDFCBDFC54}"/>
              </a:ext>
            </a:extLst>
          </p:cNvPr>
          <p:cNvSpPr txBox="1"/>
          <p:nvPr/>
        </p:nvSpPr>
        <p:spPr>
          <a:xfrm>
            <a:off x="4293507" y="1214568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AED5D3-8B60-BDE6-9E64-83E0017EF304}"/>
              </a:ext>
            </a:extLst>
          </p:cNvPr>
          <p:cNvSpPr txBox="1"/>
          <p:nvPr/>
        </p:nvSpPr>
        <p:spPr>
          <a:xfrm>
            <a:off x="101008" y="680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Scenario 1B. Patient: Jeane (ablation surgery). Context: Interaction day before surgery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DC49077-76D5-24E2-10EC-64C5D0F1B10A}"/>
              </a:ext>
            </a:extLst>
          </p:cNvPr>
          <p:cNvSpPr txBox="1"/>
          <p:nvPr/>
        </p:nvSpPr>
        <p:spPr>
          <a:xfrm>
            <a:off x="4165368" y="403690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12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32D44E-79D8-C34E-84C4-6BADE36DC1E3}"/>
              </a:ext>
            </a:extLst>
          </p:cNvPr>
          <p:cNvSpPr txBox="1"/>
          <p:nvPr/>
        </p:nvSpPr>
        <p:spPr>
          <a:xfrm>
            <a:off x="387916" y="429365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11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DBA37B7-D10F-B3CE-5AFD-D83F28841652}"/>
              </a:ext>
            </a:extLst>
          </p:cNvPr>
          <p:cNvSpPr txBox="1"/>
          <p:nvPr/>
        </p:nvSpPr>
        <p:spPr>
          <a:xfrm>
            <a:off x="3456121" y="7278441"/>
            <a:ext cx="2433503" cy="553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(Design note: App would send a notification to user if a task is coming up soon and/or missed)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7897D6-909C-5B05-138A-D348EC600F69}"/>
              </a:ext>
            </a:extLst>
          </p:cNvPr>
          <p:cNvSpPr/>
          <p:nvPr/>
        </p:nvSpPr>
        <p:spPr>
          <a:xfrm>
            <a:off x="559230" y="2281622"/>
            <a:ext cx="2665197" cy="8913043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I’m glad you reached out — the day before surgery is often when questions resurface. Let’s take this one step at a time.</a:t>
            </a:r>
          </a:p>
          <a:p>
            <a:endParaRPr lang="en-US" sz="800" dirty="0"/>
          </a:p>
          <a:p>
            <a:r>
              <a:rPr lang="en-US" sz="800" b="1" dirty="0"/>
              <a:t>Preparing for tomorrow</a:t>
            </a:r>
          </a:p>
          <a:p>
            <a:r>
              <a:rPr lang="en-US" sz="800" dirty="0"/>
              <a:t>Based on what you’ve already told me and the instructions you received:</a:t>
            </a:r>
          </a:p>
          <a:p>
            <a:r>
              <a:rPr lang="en-US" sz="800" b="1" dirty="0"/>
              <a:t>Tonight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Confirm Malcolm can still take you to hospital and pick you up.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Follow the fasting instructions you were given (typically no food or drink after the time your team specified)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Take only the medications your doctor confirmed are OK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Try to get a calm, early night — even light rest helps</a:t>
            </a:r>
          </a:p>
          <a:p>
            <a:r>
              <a:rPr lang="en-US" sz="800" b="1" dirty="0"/>
              <a:t>Tomorrow</a:t>
            </a: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Wear comfortable, loose clothing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Don’t bring valuables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Bring any paperwork or hospital letters you were given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You don’t need to remember everything — I’ll help you track things afterward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You’ve already confirmed the medication that needed to be stopped, so there’s nothing else you need to change tonight.</a:t>
            </a:r>
          </a:p>
          <a:p>
            <a:endParaRPr lang="en-US" sz="800" dirty="0"/>
          </a:p>
          <a:p>
            <a:r>
              <a:rPr lang="en-US" sz="800" b="1" dirty="0"/>
              <a:t>A reminder about possible side-effects (after the procedure)</a:t>
            </a:r>
          </a:p>
          <a:p>
            <a:r>
              <a:rPr lang="en-US" sz="800" dirty="0"/>
              <a:t>Many people experience </a:t>
            </a:r>
            <a:r>
              <a:rPr lang="en-US" sz="800" b="1" dirty="0"/>
              <a:t>temporary effects</a:t>
            </a:r>
            <a:r>
              <a:rPr lang="en-US" sz="800" dirty="0"/>
              <a:t> as the body and heart recover, such as:</a:t>
            </a:r>
          </a:p>
          <a:p>
            <a:r>
              <a:rPr lang="en-US" sz="800" dirty="0"/>
              <a:t>Tiredness or feeling “washed out” for a few days</a:t>
            </a:r>
          </a:p>
          <a:p>
            <a:r>
              <a:rPr lang="en-US" sz="800" dirty="0"/>
              <a:t>Mild chest discomfort</a:t>
            </a:r>
          </a:p>
          <a:p>
            <a:r>
              <a:rPr lang="en-US" sz="800" dirty="0"/>
              <a:t>Short episodes of palpitations or fluttering</a:t>
            </a:r>
          </a:p>
          <a:p>
            <a:r>
              <a:rPr lang="en-US" sz="800" dirty="0"/>
              <a:t>A sore throat (from the breathing tube used during anesthesia)</a:t>
            </a:r>
          </a:p>
          <a:p>
            <a:r>
              <a:rPr lang="en-US" sz="800" dirty="0"/>
              <a:t>Bruising or tenderness where the catheter was inserted (often the groin)</a:t>
            </a:r>
          </a:p>
          <a:p>
            <a:r>
              <a:rPr lang="en-US" sz="800" dirty="0"/>
              <a:t>These are common and usually improve over </a:t>
            </a:r>
            <a:r>
              <a:rPr lang="en-US" sz="800" b="1" dirty="0"/>
              <a:t>days to a couple of weeks</a:t>
            </a:r>
            <a:r>
              <a:rPr lang="en-US" sz="800" dirty="0"/>
              <a:t>.</a:t>
            </a:r>
          </a:p>
          <a:p>
            <a:r>
              <a:rPr lang="en-US" sz="800" dirty="0"/>
              <a:t>There are also </a:t>
            </a:r>
            <a:r>
              <a:rPr lang="en-US" sz="800" b="1" dirty="0"/>
              <a:t>less common but important risks</a:t>
            </a:r>
            <a:r>
              <a:rPr lang="en-US" sz="800" dirty="0"/>
              <a:t>, which your doctor will monitor for and discuss with you — things like bleeding, infection, or rhythm issues. If anything feels worrying afterward, you’ll never be bothering anyone by asking.</a:t>
            </a:r>
          </a:p>
          <a:p>
            <a:r>
              <a:rPr lang="en-US" sz="800" dirty="0"/>
              <a:t>I’ll also be checking in with you after the procedure to see how you’re feeling.</a:t>
            </a:r>
          </a:p>
          <a:p>
            <a:endParaRPr lang="en-US" sz="800" dirty="0"/>
          </a:p>
          <a:p>
            <a:r>
              <a:rPr lang="en-US" sz="800" b="1" dirty="0"/>
              <a:t>Questions you may want to ask after surgery</a:t>
            </a:r>
          </a:p>
          <a:p>
            <a:r>
              <a:rPr lang="en-US" sz="800" dirty="0"/>
              <a:t>You don’t need to ask all of these — they’re just prompts in case they’re helpful: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How did the procedure go compared to what you expected?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Were there any areas that needed extra treatment?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What symptoms are normal over the next few days?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What would be a reason to call the hospital?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When can I resume normal activities?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Are there any medication changes I should be aware of?</a:t>
            </a:r>
          </a:p>
          <a:p>
            <a:endParaRPr lang="en-US" sz="800" dirty="0"/>
          </a:p>
          <a:p>
            <a:r>
              <a:rPr lang="en-US" sz="800" b="1" dirty="0"/>
              <a:t>How would you like to access these questions later?</a:t>
            </a:r>
          </a:p>
          <a:p>
            <a:r>
              <a:rPr lang="en-US" sz="800" dirty="0"/>
              <a:t>You can:</a:t>
            </a:r>
          </a:p>
          <a:p>
            <a:r>
              <a:rPr lang="en-US" sz="800" b="1" dirty="0"/>
              <a:t>Just ask me again</a:t>
            </a:r>
            <a:r>
              <a:rPr lang="en-US" sz="800" dirty="0"/>
              <a:t> anytime</a:t>
            </a:r>
          </a:p>
          <a:p>
            <a:r>
              <a:rPr lang="en-US" sz="800" b="1" dirty="0"/>
              <a:t>Find them here</a:t>
            </a:r>
            <a:r>
              <a:rPr lang="en-US" sz="800" dirty="0"/>
              <a:t> in your app under your surgery notes</a:t>
            </a:r>
          </a:p>
          <a:p>
            <a:r>
              <a:rPr lang="en-US" sz="800" b="1" dirty="0"/>
              <a:t>Have me email them to you</a:t>
            </a:r>
            <a:r>
              <a:rPr lang="en-US" sz="800" dirty="0"/>
              <a:t> so you can bring them with you</a:t>
            </a:r>
          </a:p>
          <a:p>
            <a:r>
              <a:rPr lang="en-US" sz="800" dirty="0"/>
              <a:t>Just tell me what feels easiest.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EBDC360-754E-6AAD-D9BB-4FE491808C1E}"/>
              </a:ext>
            </a:extLst>
          </p:cNvPr>
          <p:cNvSpPr/>
          <p:nvPr/>
        </p:nvSpPr>
        <p:spPr>
          <a:xfrm>
            <a:off x="887362" y="1732258"/>
            <a:ext cx="2543175" cy="4310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“My surgery is tomorrow — what do I need to do to prepare? Can you give me something to read to remind me about possible side-effects?”</a:t>
            </a:r>
            <a:endParaRPr lang="en-US" sz="8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F1F707-8C90-2CFF-3EB4-2B13C9C395C3}"/>
              </a:ext>
            </a:extLst>
          </p:cNvPr>
          <p:cNvSpPr/>
          <p:nvPr/>
        </p:nvSpPr>
        <p:spPr>
          <a:xfrm>
            <a:off x="4618275" y="1694028"/>
            <a:ext cx="2543175" cy="1750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I’ll just ask you again. </a:t>
            </a:r>
            <a:endParaRPr lang="en-US" sz="8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8C659C8F-7E09-E8CB-A159-46C2D9C6AEFE}"/>
              </a:ext>
            </a:extLst>
          </p:cNvPr>
          <p:cNvSpPr/>
          <p:nvPr/>
        </p:nvSpPr>
        <p:spPr>
          <a:xfrm>
            <a:off x="4293030" y="1962555"/>
            <a:ext cx="2665197" cy="733542"/>
          </a:xfrm>
          <a:prstGeom prst="roundRect">
            <a:avLst>
              <a:gd name="adj" fmla="val 7448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/>
              <a:t>Great. Before we pause — how are you feeling right now?</a:t>
            </a:r>
          </a:p>
          <a:p>
            <a:r>
              <a:rPr lang="en-US" sz="800" dirty="0"/>
              <a:t>Calm, anxious, somewhere in between — however it feels is OK. I can adjust how much detail I give you.</a:t>
            </a:r>
          </a:p>
          <a:p>
            <a:r>
              <a:rPr lang="en-US" sz="800" dirty="0"/>
              <a:t>I’m here with you through this.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4D0B3EB-2814-32D0-CAE1-B4FE46830A09}"/>
              </a:ext>
            </a:extLst>
          </p:cNvPr>
          <p:cNvSpPr/>
          <p:nvPr/>
        </p:nvSpPr>
        <p:spPr>
          <a:xfrm>
            <a:off x="4647841" y="2796002"/>
            <a:ext cx="2543175" cy="2787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/>
              <a:t>I’m fine right now — just looking forward to this being over and getting on the path to recovery.</a:t>
            </a:r>
            <a:endParaRPr lang="en-US" sz="800" b="1" dirty="0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4C8EB389-9C29-9297-CF44-C7EA7BD1B263}"/>
              </a:ext>
            </a:extLst>
          </p:cNvPr>
          <p:cNvSpPr/>
          <p:nvPr/>
        </p:nvSpPr>
        <p:spPr>
          <a:xfrm>
            <a:off x="4308016" y="3277340"/>
            <a:ext cx="2665197" cy="2984898"/>
          </a:xfrm>
          <a:prstGeom prst="roundRect">
            <a:avLst>
              <a:gd name="adj" fmla="val 5122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800" dirty="0"/>
              <a:t>That makes a lot of sense. Wanting to get to the other side of this is very human — and you’re almost there.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I’ve noted that you’re feeling steady and focused on recovery. I’ll keep things calm and practical unless you tell me otherwise.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For tomorrow: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You’re prepared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Your key questions are saved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/>
              <a:t>I’ll check in after the procedure when it actually matters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If you’d like, you can also record your conversation with the doctor — I can help capture what’s said and turn it into clear notes </a:t>
            </a:r>
            <a:r>
              <a:rPr lang="en-US" sz="800" dirty="0" err="1"/>
              <a:t>afterward.You</a:t>
            </a:r>
            <a:r>
              <a:rPr lang="en-US" sz="800" dirty="0"/>
              <a:t> don’t have to decide now. If you want, just ask me how at any point.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If anything pops into your head later tonight — even something small — you can just tell me. You don’t need to frame it or remember where to put it.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sz="800" dirty="0"/>
              <a:t>Otherwise, I’ll be here when you’re ready.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E7149D0-6D4D-DE6A-90B3-7C9FE62BAD08}"/>
              </a:ext>
            </a:extLst>
          </p:cNvPr>
          <p:cNvCxnSpPr>
            <a:cxnSpLocks/>
          </p:cNvCxnSpPr>
          <p:nvPr/>
        </p:nvCxnSpPr>
        <p:spPr>
          <a:xfrm flipH="1" flipV="1">
            <a:off x="3224427" y="1962555"/>
            <a:ext cx="613078" cy="5326807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27A7E4-38B5-5FF1-332C-585B1773BB3D}"/>
              </a:ext>
            </a:extLst>
          </p:cNvPr>
          <p:cNvSpPr txBox="1"/>
          <p:nvPr/>
        </p:nvSpPr>
        <p:spPr>
          <a:xfrm>
            <a:off x="3530966" y="8270014"/>
            <a:ext cx="2927599" cy="2862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00" dirty="0"/>
              <a:t>(Design note: There must be a single canonical container per appointment/event, e.g.:</a:t>
            </a:r>
          </a:p>
          <a:p>
            <a:r>
              <a:rPr lang="en-US" sz="1000" dirty="0"/>
              <a:t>Ablation Surgery — Nov 21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Questions to 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Notes from doctor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Recordings (if any)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Instructions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Med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Follow-ups</a:t>
            </a:r>
          </a:p>
          <a:p>
            <a:r>
              <a:rPr lang="en-US" sz="1000" dirty="0"/>
              <a:t>Within that container:</a:t>
            </a:r>
          </a:p>
          <a:p>
            <a:r>
              <a:rPr lang="en-US" sz="1000" dirty="0"/>
              <a:t>Questions appear as a simple list, grouped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Before surgery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After surgery</a:t>
            </a:r>
          </a:p>
          <a:p>
            <a:r>
              <a:rPr lang="en-US" sz="1000" dirty="0"/>
              <a:t>Format should be: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Plain language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Editable (soft edits)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Status-aware (answered vs open)</a:t>
            </a:r>
          </a:p>
          <a:p>
            <a:endParaRPr lang="en-US" sz="1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FCC659-27B5-910C-9585-C441286026A6}"/>
              </a:ext>
            </a:extLst>
          </p:cNvPr>
          <p:cNvCxnSpPr>
            <a:cxnSpLocks/>
          </p:cNvCxnSpPr>
          <p:nvPr/>
        </p:nvCxnSpPr>
        <p:spPr>
          <a:xfrm flipH="1">
            <a:off x="3088270" y="10631711"/>
            <a:ext cx="442696" cy="0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9DFF2E-0BDA-0571-7F0F-3A363C04B64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6458565" y="3870594"/>
            <a:ext cx="4855381" cy="5830581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7BD4A3B-B34E-E7FC-8FE4-D13D978F72AA}"/>
              </a:ext>
            </a:extLst>
          </p:cNvPr>
          <p:cNvSpPr/>
          <p:nvPr/>
        </p:nvSpPr>
        <p:spPr>
          <a:xfrm>
            <a:off x="11339663" y="821066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8A15B6-F945-540C-941A-1679DF9E1786}"/>
              </a:ext>
            </a:extLst>
          </p:cNvPr>
          <p:cNvSpPr txBox="1"/>
          <p:nvPr/>
        </p:nvSpPr>
        <p:spPr>
          <a:xfrm>
            <a:off x="11530531" y="962595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5AAC46-5EB4-FF61-83F8-F9AEF12494C8}"/>
              </a:ext>
            </a:extLst>
          </p:cNvPr>
          <p:cNvSpPr txBox="1"/>
          <p:nvPr/>
        </p:nvSpPr>
        <p:spPr>
          <a:xfrm>
            <a:off x="11531008" y="1263973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EVENTS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D2C2ED-E920-8499-ED0D-5BA9F71F2FD3}"/>
              </a:ext>
            </a:extLst>
          </p:cNvPr>
          <p:cNvSpPr txBox="1"/>
          <p:nvPr/>
        </p:nvSpPr>
        <p:spPr>
          <a:xfrm>
            <a:off x="11530531" y="1649737"/>
            <a:ext cx="34220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SURGERY: </a:t>
            </a:r>
          </a:p>
          <a:p>
            <a:r>
              <a:rPr lang="en-US" dirty="0">
                <a:solidFill>
                  <a:srgbClr val="002060"/>
                </a:solidFill>
              </a:rPr>
              <a:t>Tuesday, October 3</a:t>
            </a:r>
            <a:r>
              <a:rPr lang="en-US" baseline="30000" dirty="0">
                <a:solidFill>
                  <a:srgbClr val="002060"/>
                </a:solidFill>
              </a:rPr>
              <a:t>rd</a:t>
            </a:r>
            <a:r>
              <a:rPr lang="en-US" dirty="0">
                <a:solidFill>
                  <a:srgbClr val="002060"/>
                </a:solidFill>
              </a:rPr>
              <a:t>, 9am ET </a:t>
            </a:r>
          </a:p>
          <a:p>
            <a:r>
              <a:rPr lang="en-US" dirty="0">
                <a:solidFill>
                  <a:srgbClr val="002060"/>
                </a:solidFill>
              </a:rPr>
              <a:t>St Mary’s</a:t>
            </a:r>
          </a:p>
          <a:p>
            <a:r>
              <a:rPr lang="en-US" dirty="0">
                <a:solidFill>
                  <a:srgbClr val="002060"/>
                </a:solidFill>
              </a:rPr>
              <a:t>Cardiac ablation 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1C1EA0-181F-8A7F-FE9B-AFB00224C5D7}"/>
              </a:ext>
            </a:extLst>
          </p:cNvPr>
          <p:cNvSpPr txBox="1"/>
          <p:nvPr/>
        </p:nvSpPr>
        <p:spPr>
          <a:xfrm>
            <a:off x="11530531" y="3074752"/>
            <a:ext cx="25425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Notes from doctor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Recordings (if any)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Instructions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Med changes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Follow-ups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Questions to ask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6842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D484-22BE-B08A-D446-19E129E5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9FA6E4-D012-9328-31B7-40B1A429F579}"/>
              </a:ext>
            </a:extLst>
          </p:cNvPr>
          <p:cNvSpPr/>
          <p:nvPr/>
        </p:nvSpPr>
        <p:spPr>
          <a:xfrm>
            <a:off x="11751746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2CF944-ED66-F8F7-2D2F-908DF1CE0982}"/>
              </a:ext>
            </a:extLst>
          </p:cNvPr>
          <p:cNvSpPr txBox="1"/>
          <p:nvPr/>
        </p:nvSpPr>
        <p:spPr>
          <a:xfrm>
            <a:off x="11887200" y="930324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E4872F-186C-85E0-B68E-C136570F10AC}"/>
              </a:ext>
            </a:extLst>
          </p:cNvPr>
          <p:cNvSpPr txBox="1"/>
          <p:nvPr/>
        </p:nvSpPr>
        <p:spPr>
          <a:xfrm>
            <a:off x="11887200" y="1196218"/>
            <a:ext cx="2318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APPOINTMENT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FD86A61-7090-EC17-1DF3-26E7D2B95722}"/>
              </a:ext>
            </a:extLst>
          </p:cNvPr>
          <p:cNvSpPr txBox="1"/>
          <p:nvPr/>
        </p:nvSpPr>
        <p:spPr>
          <a:xfrm>
            <a:off x="101008" y="680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Scenario 1C. Patient: Jeane (ablation surgery). Context: Interaction just after surgery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356935-C0E3-9EAF-73B5-C453EB5E4906}"/>
              </a:ext>
            </a:extLst>
          </p:cNvPr>
          <p:cNvSpPr txBox="1"/>
          <p:nvPr/>
        </p:nvSpPr>
        <p:spPr>
          <a:xfrm>
            <a:off x="11759538" y="420824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15 — Appointment detail page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E1407178-87E1-FB96-40B5-D374396131EA}"/>
              </a:ext>
            </a:extLst>
          </p:cNvPr>
          <p:cNvCxnSpPr>
            <a:cxnSpLocks/>
          </p:cNvCxnSpPr>
          <p:nvPr/>
        </p:nvCxnSpPr>
        <p:spPr>
          <a:xfrm flipH="1" flipV="1">
            <a:off x="12337554" y="2270386"/>
            <a:ext cx="1868318" cy="557605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7DF5072-58F8-EA38-12E7-779D1B9328F8}"/>
              </a:ext>
            </a:extLst>
          </p:cNvPr>
          <p:cNvSpPr txBox="1"/>
          <p:nvPr/>
        </p:nvSpPr>
        <p:spPr>
          <a:xfrm>
            <a:off x="12064251" y="2827991"/>
            <a:ext cx="4283242" cy="32393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050" b="1" dirty="0"/>
              <a:t>2. Appointment Detail Page (Per Visit)</a:t>
            </a:r>
          </a:p>
          <a:p>
            <a:endParaRPr lang="en-US" sz="1050" b="1" dirty="0"/>
          </a:p>
          <a:p>
            <a:r>
              <a:rPr lang="en-US" sz="1050" b="1" dirty="0"/>
              <a:t>What it shows (for Jeane’s ablation)</a:t>
            </a:r>
            <a:endParaRPr lang="en-US" sz="1050" dirty="0"/>
          </a:p>
          <a:p>
            <a:r>
              <a:rPr lang="en-US" sz="1050" dirty="0"/>
              <a:t>Appointment header:</a:t>
            </a:r>
          </a:p>
          <a:p>
            <a:pPr lvl="1"/>
            <a:r>
              <a:rPr lang="en-US" sz="1050" dirty="0"/>
              <a:t>Date</a:t>
            </a:r>
          </a:p>
          <a:p>
            <a:pPr lvl="1"/>
            <a:r>
              <a:rPr lang="en-US" sz="1050" dirty="0"/>
              <a:t>Type (Ablation)</a:t>
            </a:r>
          </a:p>
          <a:p>
            <a:pPr lvl="1"/>
            <a:r>
              <a:rPr lang="en-US" sz="1050" dirty="0"/>
              <a:t>Provider</a:t>
            </a:r>
          </a:p>
          <a:p>
            <a:r>
              <a:rPr lang="en-US" sz="1050" dirty="0"/>
              <a:t>Tabs or sections:</a:t>
            </a:r>
          </a:p>
          <a:p>
            <a:pPr lvl="1"/>
            <a:r>
              <a:rPr lang="en-US" sz="1050" dirty="0"/>
              <a:t>Plain-English summary</a:t>
            </a:r>
          </a:p>
          <a:p>
            <a:pPr lvl="1"/>
            <a:r>
              <a:rPr lang="en-US" sz="1050" dirty="0"/>
              <a:t>Clinical summary</a:t>
            </a:r>
          </a:p>
          <a:p>
            <a:pPr lvl="1"/>
            <a:r>
              <a:rPr lang="en-US" sz="1050" dirty="0"/>
              <a:t>Recording (if consented)</a:t>
            </a:r>
          </a:p>
          <a:p>
            <a:pPr lvl="1"/>
            <a:r>
              <a:rPr lang="en-US" sz="1050" dirty="0"/>
              <a:t>Doctor notes (photo/PDF)</a:t>
            </a:r>
          </a:p>
          <a:p>
            <a:pPr lvl="1"/>
            <a:r>
              <a:rPr lang="en-US" sz="1050" dirty="0"/>
              <a:t>Questions asked &amp; answered</a:t>
            </a:r>
          </a:p>
          <a:p>
            <a:r>
              <a:rPr lang="en-US" sz="1050" dirty="0"/>
              <a:t>Button:</a:t>
            </a:r>
          </a:p>
          <a:p>
            <a:pPr lvl="1"/>
            <a:r>
              <a:rPr lang="en-US" sz="1050" dirty="0"/>
              <a:t>“Send summary to doctor”</a:t>
            </a:r>
          </a:p>
          <a:p>
            <a:pPr lvl="1"/>
            <a:r>
              <a:rPr lang="en-US" sz="1050" dirty="0"/>
              <a:t>“Send to caregiver”</a:t>
            </a:r>
          </a:p>
          <a:p>
            <a:r>
              <a:rPr lang="en-US" sz="1050" b="1" dirty="0"/>
              <a:t>Key point</a:t>
            </a:r>
            <a:endParaRPr lang="en-US" sz="1050" dirty="0"/>
          </a:p>
          <a:p>
            <a:r>
              <a:rPr lang="en-US" sz="1050" dirty="0"/>
              <a:t>This page is </a:t>
            </a:r>
            <a:r>
              <a:rPr lang="en-US" sz="1050" i="1" dirty="0"/>
              <a:t>never manually created</a:t>
            </a:r>
            <a:endParaRPr lang="en-US" sz="1050" dirty="0"/>
          </a:p>
          <a:p>
            <a:r>
              <a:rPr lang="en-US" sz="1050" dirty="0"/>
              <a:t>It exists because the appointment happened</a:t>
            </a:r>
          </a:p>
          <a:p>
            <a:endParaRPr lang="en-US" sz="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B929AA-F017-FCEC-FF97-D3118CD61B75}"/>
              </a:ext>
            </a:extLst>
          </p:cNvPr>
          <p:cNvSpPr txBox="1"/>
          <p:nvPr/>
        </p:nvSpPr>
        <p:spPr>
          <a:xfrm>
            <a:off x="209143" y="445917"/>
            <a:ext cx="20681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(For simplicity, just text shown)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00EF0B-0CF1-6CEE-6F46-656632A5DE45}"/>
              </a:ext>
            </a:extLst>
          </p:cNvPr>
          <p:cNvSpPr/>
          <p:nvPr/>
        </p:nvSpPr>
        <p:spPr>
          <a:xfrm>
            <a:off x="209143" y="905084"/>
            <a:ext cx="3208421" cy="8799742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298F-6652-1282-5557-25AF01A9D776}"/>
              </a:ext>
            </a:extLst>
          </p:cNvPr>
          <p:cNvSpPr txBox="1"/>
          <p:nvPr/>
        </p:nvSpPr>
        <p:spPr>
          <a:xfrm>
            <a:off x="295555" y="1735769"/>
            <a:ext cx="2909181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Hi Jeane — I’m here.</a:t>
            </a:r>
            <a:br>
              <a:rPr lang="en-US" sz="800" dirty="0"/>
            </a:br>
            <a:r>
              <a:rPr lang="en-US" sz="800" dirty="0"/>
              <a:t>I know today was a big day. How are you feeling right now?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Tired mostly. A bit sore. Glad it’s over.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That makes sense. Today takes a lot out of people — even when everything goes smoothly.</a:t>
            </a:r>
          </a:p>
          <a:p>
            <a:pPr>
              <a:buNone/>
            </a:pPr>
            <a:r>
              <a:rPr lang="en-US" sz="800" dirty="0"/>
              <a:t>Before we do anything else:</a:t>
            </a:r>
            <a:br>
              <a:rPr lang="en-US" sz="800" dirty="0"/>
            </a:br>
            <a:r>
              <a:rPr lang="en-US" sz="800" dirty="0"/>
              <a:t>are you comfortable right now, or is anything worrying you?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No, nothing worrying. Just exhausted.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Okay. We’ll keep this light.</a:t>
            </a:r>
          </a:p>
          <a:p>
            <a:pPr>
              <a:buNone/>
            </a:pPr>
            <a:r>
              <a:rPr lang="en-US" sz="800" dirty="0"/>
              <a:t>I noticed you recorded your conversation with the doctor and also received written notes.</a:t>
            </a:r>
            <a:br>
              <a:rPr lang="en-US" sz="800" dirty="0"/>
            </a:br>
            <a:r>
              <a:rPr lang="en-US" sz="800" dirty="0"/>
              <a:t>Would you like me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go through what the doctor said in plain English, 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start with the written instructions?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Let’s start with what the doctor said.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Here’s the short version — stop me anytime.</a:t>
            </a:r>
          </a:p>
          <a:p>
            <a:pPr>
              <a:buNone/>
            </a:pPr>
            <a:r>
              <a:rPr lang="en-US" sz="800" dirty="0"/>
              <a:t>The doctor said: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the ablation went as planned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they found and treated the abnormal rhythm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your heart returned to a normal rhythm during the procedure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there were no complications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they’re happy with the result so far</a:t>
            </a:r>
          </a:p>
          <a:p>
            <a:pPr>
              <a:buNone/>
            </a:pPr>
            <a:r>
              <a:rPr lang="en-US" sz="800" dirty="0"/>
              <a:t>Does that match what you remember?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Yes.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Good — that’s reassuring.</a:t>
            </a:r>
          </a:p>
          <a:p>
            <a:pPr>
              <a:buNone/>
            </a:pPr>
            <a:r>
              <a:rPr lang="en-US" sz="800" dirty="0"/>
              <a:t>There were also a couple of medication changes: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stop Digoxin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stop the evening dose of Bisoprolol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continue your other medications as before</a:t>
            </a:r>
          </a:p>
          <a:p>
            <a:pPr>
              <a:buNone/>
            </a:pPr>
            <a:r>
              <a:rPr lang="en-US" sz="800" dirty="0"/>
              <a:t>I’ve saved this so you don’t have to remember it.</a:t>
            </a:r>
          </a:p>
          <a:p>
            <a:pPr>
              <a:buNone/>
            </a:pPr>
            <a:r>
              <a:rPr lang="en-US" sz="800" dirty="0"/>
              <a:t>Would you like medication reminders for now?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Yes, please.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Done. You can turn them off anytime.</a:t>
            </a:r>
          </a:p>
          <a:p>
            <a:pPr>
              <a:buNone/>
            </a:pPr>
            <a:r>
              <a:rPr lang="en-US" sz="800" dirty="0"/>
              <a:t>From the written notes, the key things for tonight and the next few days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rest today and tomorrow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light walking is fine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avoid heavy lifting or straining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mild soreness or tiredness is normal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brief flutters can happen as the heart heals</a:t>
            </a:r>
          </a:p>
          <a:p>
            <a:pPr>
              <a:buNone/>
            </a:pPr>
            <a:r>
              <a:rPr lang="en-US" sz="800" dirty="0"/>
              <a:t>Nothing here suggests a problem.</a:t>
            </a:r>
          </a:p>
          <a:p>
            <a:pPr>
              <a:buNone/>
            </a:pPr>
            <a:r>
              <a:rPr lang="en-US" sz="800" dirty="0"/>
              <a:t>Emotionally, how are you feeling right now?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relieved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anxious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drained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00" dirty="0"/>
              <a:t>a mix</a:t>
            </a:r>
          </a:p>
          <a:p>
            <a:pPr>
              <a:buNone/>
            </a:pPr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Relieved, but drained.</a:t>
            </a:r>
          </a:p>
          <a:p>
            <a:pPr>
              <a:buNone/>
            </a:pPr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That’s very common after anesthesia and a long procedure.</a:t>
            </a:r>
          </a:p>
          <a:p>
            <a:pPr>
              <a:buNone/>
            </a:pPr>
            <a:r>
              <a:rPr lang="en-US" sz="800" dirty="0"/>
              <a:t>I’ll check in tomorrow, briefly.</a:t>
            </a:r>
            <a:br>
              <a:rPr lang="en-US" sz="800" dirty="0"/>
            </a:br>
            <a:r>
              <a:rPr lang="en-US" sz="800" dirty="0"/>
              <a:t>If you need me before then, just ask.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8F05BD-99E2-422B-F523-3776E46E9086}"/>
              </a:ext>
            </a:extLst>
          </p:cNvPr>
          <p:cNvSpPr txBox="1"/>
          <p:nvPr/>
        </p:nvSpPr>
        <p:spPr>
          <a:xfrm>
            <a:off x="295555" y="989021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03F825-8A9A-06BB-55CF-59C463102AA9}"/>
              </a:ext>
            </a:extLst>
          </p:cNvPr>
          <p:cNvSpPr txBox="1"/>
          <p:nvPr/>
        </p:nvSpPr>
        <p:spPr>
          <a:xfrm>
            <a:off x="296032" y="1290399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AD74FD-139C-94DE-75DE-F51957CF9A27}"/>
              </a:ext>
            </a:extLst>
          </p:cNvPr>
          <p:cNvSpPr txBox="1"/>
          <p:nvPr/>
        </p:nvSpPr>
        <p:spPr>
          <a:xfrm>
            <a:off x="209143" y="634889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SCREEN 13</a:t>
            </a:r>
            <a:endParaRPr lang="en-US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E8C92B87-A63E-CD9B-0ED2-4EED4B254480}"/>
              </a:ext>
            </a:extLst>
          </p:cNvPr>
          <p:cNvSpPr/>
          <p:nvPr/>
        </p:nvSpPr>
        <p:spPr>
          <a:xfrm>
            <a:off x="4014652" y="4319451"/>
            <a:ext cx="3208421" cy="4180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SCREENS</a:t>
            </a:r>
          </a:p>
        </p:txBody>
      </p:sp>
    </p:spTree>
    <p:extLst>
      <p:ext uri="{BB962C8B-B14F-4D97-AF65-F5344CB8AC3E}">
        <p14:creationId xmlns:p14="http://schemas.microsoft.com/office/powerpoint/2010/main" val="136832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E9C7-DEEA-4E2F-B779-3298B08B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0DAD7C-1F6D-1F5B-9AE6-B17DA88551A8}"/>
              </a:ext>
            </a:extLst>
          </p:cNvPr>
          <p:cNvSpPr/>
          <p:nvPr/>
        </p:nvSpPr>
        <p:spPr>
          <a:xfrm>
            <a:off x="11751746" y="838200"/>
            <a:ext cx="3208421" cy="6019800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B2C180-4647-AE08-A44E-A2CFAA382D2D}"/>
              </a:ext>
            </a:extLst>
          </p:cNvPr>
          <p:cNvSpPr txBox="1"/>
          <p:nvPr/>
        </p:nvSpPr>
        <p:spPr>
          <a:xfrm>
            <a:off x="11887200" y="930324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116587-15C1-5415-65DF-1D87E2B0DC35}"/>
              </a:ext>
            </a:extLst>
          </p:cNvPr>
          <p:cNvSpPr txBox="1"/>
          <p:nvPr/>
        </p:nvSpPr>
        <p:spPr>
          <a:xfrm>
            <a:off x="11887676" y="1231702"/>
            <a:ext cx="1350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PRE-VISIT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4A9C03-A968-DF4E-F078-BDF9015FE089}"/>
              </a:ext>
            </a:extLst>
          </p:cNvPr>
          <p:cNvSpPr txBox="1"/>
          <p:nvPr/>
        </p:nvSpPr>
        <p:spPr>
          <a:xfrm>
            <a:off x="101008" y="68000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Scenario 1D. Patient: Jeane (ablation surgery). Context: Interaction 2-4 days after surgery</a:t>
            </a:r>
            <a:endParaRPr 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38CAB9-CC43-47CE-D64E-1AB5F98B2600}"/>
              </a:ext>
            </a:extLst>
          </p:cNvPr>
          <p:cNvSpPr txBox="1"/>
          <p:nvPr/>
        </p:nvSpPr>
        <p:spPr>
          <a:xfrm>
            <a:off x="11759538" y="420824"/>
            <a:ext cx="3208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SCREEN 4 — INITIAL INTRO [Cont.]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13528C83-B74D-B5AE-7544-7A6EB0971D18}"/>
              </a:ext>
            </a:extLst>
          </p:cNvPr>
          <p:cNvCxnSpPr>
            <a:cxnSpLocks/>
          </p:cNvCxnSpPr>
          <p:nvPr/>
        </p:nvCxnSpPr>
        <p:spPr>
          <a:xfrm flipH="1" flipV="1">
            <a:off x="12605207" y="2480947"/>
            <a:ext cx="884370" cy="417488"/>
          </a:xfrm>
          <a:prstGeom prst="straightConnector1">
            <a:avLst/>
          </a:prstGeom>
          <a:ln>
            <a:solidFill>
              <a:srgbClr val="FF0000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A70178D6-D2D7-E2F5-E7D2-A894E792F85F}"/>
              </a:ext>
            </a:extLst>
          </p:cNvPr>
          <p:cNvSpPr txBox="1"/>
          <p:nvPr/>
        </p:nvSpPr>
        <p:spPr>
          <a:xfrm>
            <a:off x="12031218" y="2898435"/>
            <a:ext cx="3052027" cy="263149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100" b="1" dirty="0"/>
              <a:t>What it shows</a:t>
            </a:r>
            <a:endParaRPr lang="en-US" sz="1100" dirty="0"/>
          </a:p>
          <a:p>
            <a:r>
              <a:rPr lang="en-US" sz="1100" dirty="0"/>
              <a:t>“Your last 14 days, ready for your doctor”</a:t>
            </a:r>
          </a:p>
          <a:p>
            <a:r>
              <a:rPr lang="en-US" sz="1100" dirty="0"/>
              <a:t>Toggle:</a:t>
            </a:r>
          </a:p>
          <a:p>
            <a:pPr lvl="1"/>
            <a:r>
              <a:rPr lang="en-US" sz="1100" dirty="0"/>
              <a:t>Patient-friendly</a:t>
            </a:r>
          </a:p>
          <a:p>
            <a:pPr lvl="1"/>
            <a:r>
              <a:rPr lang="en-US" sz="1100" dirty="0"/>
              <a:t>Clinician-ready</a:t>
            </a:r>
          </a:p>
          <a:p>
            <a:r>
              <a:rPr lang="en-US" sz="1100" dirty="0"/>
              <a:t>Bullet summary:</a:t>
            </a:r>
          </a:p>
          <a:p>
            <a:pPr lvl="1"/>
            <a:r>
              <a:rPr lang="en-US" sz="1100" dirty="0"/>
              <a:t>Symptoms</a:t>
            </a:r>
          </a:p>
          <a:p>
            <a:pPr lvl="1"/>
            <a:r>
              <a:rPr lang="en-US" sz="1100" dirty="0"/>
              <a:t>Improvements</a:t>
            </a:r>
          </a:p>
          <a:p>
            <a:pPr lvl="1"/>
            <a:r>
              <a:rPr lang="en-US" sz="1100" dirty="0"/>
              <a:t>Concerns</a:t>
            </a:r>
          </a:p>
          <a:p>
            <a:pPr lvl="1"/>
            <a:r>
              <a:rPr lang="en-US" sz="1100" dirty="0"/>
              <a:t>Questions</a:t>
            </a:r>
          </a:p>
          <a:p>
            <a:r>
              <a:rPr lang="en-US" sz="1100" dirty="0"/>
              <a:t>Share options:</a:t>
            </a:r>
          </a:p>
          <a:p>
            <a:pPr lvl="1"/>
            <a:r>
              <a:rPr lang="en-US" sz="1100" dirty="0"/>
              <a:t>Email</a:t>
            </a:r>
          </a:p>
          <a:p>
            <a:pPr lvl="1"/>
            <a:r>
              <a:rPr lang="en-US" sz="1100" dirty="0"/>
              <a:t>PDF</a:t>
            </a:r>
          </a:p>
          <a:p>
            <a:pPr lvl="1"/>
            <a:r>
              <a:rPr lang="en-US" sz="1100" dirty="0"/>
              <a:t>Portal upload (future)</a:t>
            </a:r>
          </a:p>
          <a:p>
            <a:pPr lvl="1"/>
            <a:r>
              <a:rPr lang="en-US" sz="1100" dirty="0"/>
              <a:t>Caregiver access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6FA399-4D09-F471-C906-4D51E7B074CC}"/>
              </a:ext>
            </a:extLst>
          </p:cNvPr>
          <p:cNvSpPr txBox="1"/>
          <p:nvPr/>
        </p:nvSpPr>
        <p:spPr>
          <a:xfrm>
            <a:off x="182880" y="636163"/>
            <a:ext cx="20681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(For simplicity, just text shown)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3C5361-A618-1397-BE7A-EF6054C6C242}"/>
              </a:ext>
            </a:extLst>
          </p:cNvPr>
          <p:cNvSpPr/>
          <p:nvPr/>
        </p:nvSpPr>
        <p:spPr>
          <a:xfrm>
            <a:off x="129382" y="1066872"/>
            <a:ext cx="3208421" cy="8799742"/>
          </a:xfrm>
          <a:prstGeom prst="roundRect">
            <a:avLst>
              <a:gd name="adj" fmla="val 8425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A90AA0-D513-9CA1-FE38-05C4F57C291D}"/>
              </a:ext>
            </a:extLst>
          </p:cNvPr>
          <p:cNvSpPr txBox="1"/>
          <p:nvPr/>
        </p:nvSpPr>
        <p:spPr>
          <a:xfrm>
            <a:off x="217922" y="1841987"/>
            <a:ext cx="2909181" cy="7602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Hi Jeane — quick check-in.</a:t>
            </a:r>
            <a:br>
              <a:rPr lang="en-US" sz="800" dirty="0"/>
            </a:br>
            <a:r>
              <a:rPr lang="en-US" sz="800" dirty="0"/>
              <a:t>How are you feeling today?</a:t>
            </a:r>
          </a:p>
          <a:p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Very tired. A bit low. And I’ve got a big bruise in my groin.</a:t>
            </a:r>
          </a:p>
          <a:p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Thank you for telling me.</a:t>
            </a:r>
          </a:p>
          <a:p>
            <a:r>
              <a:rPr lang="en-US" sz="800" dirty="0"/>
              <a:t>I want to walk through each of those calmly.</a:t>
            </a:r>
          </a:p>
          <a:p>
            <a:r>
              <a:rPr lang="en-US" sz="800" dirty="0"/>
              <a:t>First — </a:t>
            </a:r>
            <a:r>
              <a:rPr lang="en-US" sz="800" b="1" dirty="0"/>
              <a:t>tiredness and low mood</a:t>
            </a:r>
            <a:r>
              <a:rPr lang="en-US" sz="800" dirty="0"/>
              <a:t>.</a:t>
            </a:r>
            <a:br>
              <a:rPr lang="en-US" sz="800" dirty="0"/>
            </a:br>
            <a:r>
              <a:rPr lang="en-US" sz="800" dirty="0"/>
              <a:t>After this kind of heart procedure, it’s common for people to feel:</a:t>
            </a:r>
          </a:p>
          <a:p>
            <a:r>
              <a:rPr lang="en-US" sz="800" dirty="0"/>
              <a:t>very fatigued</a:t>
            </a:r>
          </a:p>
          <a:p>
            <a:r>
              <a:rPr lang="en-US" sz="800" dirty="0"/>
              <a:t>emotionally flat or tearful</a:t>
            </a:r>
          </a:p>
          <a:p>
            <a:r>
              <a:rPr lang="en-US" sz="800" dirty="0"/>
              <a:t>a bit “down” for a few days</a:t>
            </a:r>
          </a:p>
          <a:p>
            <a:r>
              <a:rPr lang="en-US" sz="800" dirty="0"/>
              <a:t>This is often related to anesthesia, the procedure itself, and recovery — not a sign that anything is wrong.</a:t>
            </a:r>
          </a:p>
          <a:p>
            <a:r>
              <a:rPr lang="en-US" sz="800" dirty="0"/>
              <a:t>Are these feelings easing at all, or about the same as yesterday?</a:t>
            </a:r>
          </a:p>
          <a:p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About the same.</a:t>
            </a:r>
          </a:p>
          <a:p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Okay. That still fits with expected recovery at this stage.</a:t>
            </a:r>
            <a:br>
              <a:rPr lang="en-US" sz="800" dirty="0"/>
            </a:br>
            <a:r>
              <a:rPr lang="en-US" sz="800" dirty="0"/>
              <a:t>If it hasn’t started improving after a few more days, that would be worth mentioning at follow-up — I’ll keep track of it.</a:t>
            </a:r>
          </a:p>
          <a:p>
            <a:r>
              <a:rPr lang="en-US" sz="800" dirty="0"/>
              <a:t>Now about the </a:t>
            </a:r>
            <a:r>
              <a:rPr lang="en-US" sz="800" b="1" dirty="0"/>
              <a:t>bruising</a:t>
            </a:r>
            <a:r>
              <a:rPr lang="en-US" sz="800" dirty="0"/>
              <a:t>.</a:t>
            </a:r>
          </a:p>
          <a:p>
            <a:r>
              <a:rPr lang="en-US" sz="800" dirty="0"/>
              <a:t>Bruising around the groin is very common after catheter procedures.</a:t>
            </a:r>
            <a:br>
              <a:rPr lang="en-US" sz="800" dirty="0"/>
            </a:br>
            <a:r>
              <a:rPr lang="en-US" sz="800" dirty="0"/>
              <a:t>It often:</a:t>
            </a:r>
          </a:p>
          <a:p>
            <a:r>
              <a:rPr lang="en-US" sz="800" dirty="0"/>
              <a:t>looks dark or alarming</a:t>
            </a:r>
          </a:p>
          <a:p>
            <a:r>
              <a:rPr lang="en-US" sz="800" dirty="0"/>
              <a:t>spreads or changes color</a:t>
            </a:r>
          </a:p>
          <a:p>
            <a:r>
              <a:rPr lang="en-US" sz="800" dirty="0"/>
              <a:t>turns yellow as it heals</a:t>
            </a:r>
          </a:p>
          <a:p>
            <a:r>
              <a:rPr lang="en-US" sz="800" dirty="0"/>
              <a:t>As long as it’s:</a:t>
            </a:r>
          </a:p>
          <a:p>
            <a:r>
              <a:rPr lang="en-US" sz="800" dirty="0"/>
              <a:t>not getting more painful</a:t>
            </a:r>
          </a:p>
          <a:p>
            <a:r>
              <a:rPr lang="en-US" sz="800" dirty="0"/>
              <a:t>not swelling suddenly</a:t>
            </a:r>
          </a:p>
          <a:p>
            <a:r>
              <a:rPr lang="en-US" sz="800" dirty="0"/>
              <a:t>not bleeding</a:t>
            </a:r>
          </a:p>
          <a:p>
            <a:r>
              <a:rPr lang="en-US" sz="800" dirty="0"/>
              <a:t>it’s usually normal healing.</a:t>
            </a:r>
          </a:p>
          <a:p>
            <a:r>
              <a:rPr lang="en-US" sz="800" dirty="0"/>
              <a:t>Is the area painful, warm, or getting bigger?</a:t>
            </a:r>
          </a:p>
          <a:p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No. Just looks awful.</a:t>
            </a:r>
          </a:p>
          <a:p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That’s reassuring. I’ll note it as expected bruising.</a:t>
            </a:r>
          </a:p>
          <a:p>
            <a:r>
              <a:rPr lang="en-US" sz="800" dirty="0"/>
              <a:t>Now I want to check what’s </a:t>
            </a:r>
            <a:r>
              <a:rPr lang="en-US" sz="800" i="1" dirty="0"/>
              <a:t>not</a:t>
            </a:r>
            <a:r>
              <a:rPr lang="en-US" sz="800" dirty="0"/>
              <a:t> happening — this matters too.</a:t>
            </a:r>
          </a:p>
          <a:p>
            <a:r>
              <a:rPr lang="en-US" sz="800" dirty="0"/>
              <a:t>Are you having:</a:t>
            </a:r>
          </a:p>
          <a:p>
            <a:r>
              <a:rPr lang="en-US" sz="800" dirty="0"/>
              <a:t>chest pain?</a:t>
            </a:r>
          </a:p>
          <a:p>
            <a:r>
              <a:rPr lang="en-US" sz="800" dirty="0"/>
              <a:t>worsening shortness of breath?</a:t>
            </a:r>
          </a:p>
          <a:p>
            <a:r>
              <a:rPr lang="en-US" sz="800" dirty="0"/>
              <a:t>fainting or dizziness?</a:t>
            </a:r>
          </a:p>
          <a:p>
            <a:r>
              <a:rPr lang="en-US" sz="800" dirty="0"/>
              <a:t>sustained fast heart rhythms?</a:t>
            </a:r>
          </a:p>
          <a:p>
            <a:r>
              <a:rPr lang="en-US" sz="800" b="1" dirty="0"/>
              <a:t>Patient</a:t>
            </a:r>
            <a:br>
              <a:rPr lang="en-US" sz="800" dirty="0"/>
            </a:br>
            <a:r>
              <a:rPr lang="en-US" sz="800" dirty="0"/>
              <a:t>No.</a:t>
            </a:r>
          </a:p>
          <a:p>
            <a:r>
              <a:rPr lang="en-US" sz="800" b="1" dirty="0" err="1"/>
              <a:t>WellBridge</a:t>
            </a:r>
            <a:br>
              <a:rPr lang="en-US" sz="800" dirty="0"/>
            </a:br>
            <a:r>
              <a:rPr lang="en-US" sz="800" dirty="0"/>
              <a:t>That’s very good news.</a:t>
            </a:r>
          </a:p>
          <a:p>
            <a:r>
              <a:rPr lang="en-US" sz="800" dirty="0"/>
              <a:t>Based on everything you’ve said:</a:t>
            </a:r>
          </a:p>
          <a:p>
            <a:r>
              <a:rPr lang="en-US" sz="800" dirty="0"/>
              <a:t>your symptoms fit normal recovery</a:t>
            </a:r>
          </a:p>
          <a:p>
            <a:r>
              <a:rPr lang="en-US" sz="800" dirty="0"/>
              <a:t>there are no red flags right now</a:t>
            </a:r>
          </a:p>
          <a:p>
            <a:r>
              <a:rPr lang="en-US" sz="800" dirty="0"/>
              <a:t>rest and gentle activity remain the right approach</a:t>
            </a:r>
          </a:p>
          <a:p>
            <a:r>
              <a:rPr lang="en-US" sz="800" dirty="0"/>
              <a:t>I’ve recorded today as:</a:t>
            </a:r>
            <a:br>
              <a:rPr lang="en-US" sz="800" dirty="0"/>
            </a:br>
            <a:r>
              <a:rPr lang="en-US" sz="800" dirty="0"/>
              <a:t>“Fatigue and low mood present; groin bruising resolving; no cardiac or respiratory symptoms.”</a:t>
            </a:r>
          </a:p>
          <a:p>
            <a:r>
              <a:rPr lang="en-US" sz="800" dirty="0"/>
              <a:t>You don’t need to do anything else today.</a:t>
            </a:r>
          </a:p>
          <a:p>
            <a:r>
              <a:rPr lang="en-US" sz="800" dirty="0"/>
              <a:t>I’ll check in again tomorrow — unless you’d rather I wait or you want to talk sooner.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5F5D-00CF-5EE9-3EF1-3CC9DC61A226}"/>
              </a:ext>
            </a:extLst>
          </p:cNvPr>
          <p:cNvSpPr txBox="1"/>
          <p:nvPr/>
        </p:nvSpPr>
        <p:spPr>
          <a:xfrm>
            <a:off x="209143" y="1171277"/>
            <a:ext cx="12156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WellBridge</a:t>
            </a:r>
            <a:r>
              <a:rPr lang="en-US" sz="1400" b="1" baseline="30000" dirty="0">
                <a:solidFill>
                  <a:srgbClr val="002060"/>
                </a:solidFill>
              </a:rPr>
              <a:t>TM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AAAA7F-34E5-6594-C6B8-DF7A43041513}"/>
              </a:ext>
            </a:extLst>
          </p:cNvPr>
          <p:cNvSpPr txBox="1"/>
          <p:nvPr/>
        </p:nvSpPr>
        <p:spPr>
          <a:xfrm>
            <a:off x="209620" y="1472655"/>
            <a:ext cx="1009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CHAT</a:t>
            </a:r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B73B03C-E81E-0805-5F97-C4006F40F918}"/>
              </a:ext>
            </a:extLst>
          </p:cNvPr>
          <p:cNvSpPr/>
          <p:nvPr/>
        </p:nvSpPr>
        <p:spPr>
          <a:xfrm>
            <a:off x="4014652" y="4319451"/>
            <a:ext cx="3208421" cy="4180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RELATED SCREENS</a:t>
            </a:r>
          </a:p>
        </p:txBody>
      </p:sp>
    </p:spTree>
    <p:extLst>
      <p:ext uri="{BB962C8B-B14F-4D97-AF65-F5344CB8AC3E}">
        <p14:creationId xmlns:p14="http://schemas.microsoft.com/office/powerpoint/2010/main" val="296531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92AF-2FAA-093B-6740-C5D682CC3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6" y="0"/>
            <a:ext cx="20855238" cy="1325563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WellBridge</a:t>
            </a:r>
            <a:r>
              <a:rPr lang="en-US" sz="3200" b="1" dirty="0"/>
              <a:t> — Patient Timeline / My Journey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7BB3B-E170-8B34-DDB4-8EEA6D4FB546}"/>
              </a:ext>
            </a:extLst>
          </p:cNvPr>
          <p:cNvSpPr txBox="1"/>
          <p:nvPr/>
        </p:nvSpPr>
        <p:spPr>
          <a:xfrm>
            <a:off x="433136" y="930442"/>
            <a:ext cx="16972547" cy="2253027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200" dirty="0"/>
              <a:t>The Patient Timeline / My Journey is a </a:t>
            </a:r>
            <a:r>
              <a:rPr lang="en-US" sz="1200" b="1" dirty="0"/>
              <a:t>core organizing structure of </a:t>
            </a:r>
            <a:r>
              <a:rPr lang="en-US" sz="1200" b="1" dirty="0" err="1"/>
              <a:t>WellBridge</a:t>
            </a:r>
            <a:r>
              <a:rPr lang="en-US" sz="1200" dirty="0"/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Think of it as: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A living medical diary that assembles itself automatically from conversations, documents, recordings, and events.</a:t>
            </a: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Key principles: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patient does </a:t>
            </a:r>
            <a:r>
              <a:rPr lang="en-US" sz="1200" b="1" dirty="0"/>
              <a:t>not</a:t>
            </a:r>
            <a:r>
              <a:rPr lang="en-US" sz="1200" dirty="0"/>
              <a:t> maintain it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patient does </a:t>
            </a:r>
            <a:r>
              <a:rPr lang="en-US" sz="1200" b="1" dirty="0"/>
              <a:t>not</a:t>
            </a:r>
            <a:r>
              <a:rPr lang="en-US" sz="1200" dirty="0"/>
              <a:t> organize it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timeline is created automatically as the patient uses </a:t>
            </a:r>
            <a:r>
              <a:rPr lang="en-US" sz="1200" dirty="0" err="1"/>
              <a:t>WellBridge</a:t>
            </a:r>
            <a:r>
              <a:rPr lang="en-US" sz="1200" dirty="0"/>
              <a:t> naturally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It answers one fundamental question at any moment: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“What has happened in my care, in order, and what matters right now?”</a:t>
            </a:r>
            <a:endParaRPr lang="en-US" sz="1200" dirty="0"/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2. What the Timeline is </a:t>
            </a:r>
            <a:r>
              <a:rPr lang="en-US" sz="1200" b="1" i="1" dirty="0"/>
              <a:t>not</a:t>
            </a:r>
            <a:endParaRPr lang="en-US" sz="1200" b="1" dirty="0"/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The Patient Timeline is </a:t>
            </a:r>
            <a:r>
              <a:rPr lang="en-US" sz="1200" b="1" dirty="0"/>
              <a:t>not</a:t>
            </a:r>
            <a:r>
              <a:rPr lang="en-US" sz="1200" dirty="0"/>
              <a:t>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 task manager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 traditional calendar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 symptom tracking grid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 dashboard full of charts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 replacement for the medical record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Those may exist </a:t>
            </a:r>
            <a:r>
              <a:rPr lang="en-US" sz="1200" i="1" dirty="0"/>
              <a:t>around</a:t>
            </a:r>
            <a:r>
              <a:rPr lang="en-US" sz="1200" dirty="0"/>
              <a:t> the timeline, but the timeline itself is: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Narrative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Chronological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Human-readable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Calm and reassuring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3. How the Timeline Works (Conceptual Model)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Every meaningful “moment” in a patient’s care becomes a </a:t>
            </a:r>
            <a:r>
              <a:rPr lang="en-US" sz="1200" b="1" dirty="0"/>
              <a:t>timeline entry</a:t>
            </a:r>
            <a:r>
              <a:rPr lang="en-US" sz="1200" dirty="0"/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Examples: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Doctor visits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Surgeries or procedures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Post-visit check-ins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Symptom updates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Medication changes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Test results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Caregiver conversations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Patient questions (and answers)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Every timeline entry contains five elements: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b="1" dirty="0"/>
              <a:t>When</a:t>
            </a:r>
            <a:r>
              <a:rPr lang="en-US" sz="1200" dirty="0"/>
              <a:t> it happened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b="1" dirty="0"/>
              <a:t>What type</a:t>
            </a:r>
            <a:r>
              <a:rPr lang="en-US" sz="1200" dirty="0"/>
              <a:t> of event it was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b="1" dirty="0"/>
              <a:t>What </a:t>
            </a:r>
            <a:r>
              <a:rPr lang="en-US" sz="1200" b="1" dirty="0" err="1"/>
              <a:t>WellBridge</a:t>
            </a:r>
            <a:r>
              <a:rPr lang="en-US" sz="1200" b="1" dirty="0"/>
              <a:t> knows</a:t>
            </a:r>
            <a:r>
              <a:rPr lang="en-US" sz="1200" dirty="0"/>
              <a:t> (plain-English summary)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b="1" dirty="0"/>
              <a:t>What actions emerged</a:t>
            </a:r>
            <a:r>
              <a:rPr lang="en-US" sz="1200" dirty="0"/>
              <a:t> (if any)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b="1" dirty="0"/>
              <a:t>Where the information came from</a:t>
            </a:r>
            <a:r>
              <a:rPr lang="en-US" sz="1200" dirty="0"/>
              <a:t> (source)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The patient never decides where something goes — </a:t>
            </a:r>
            <a:r>
              <a:rPr lang="en-US" sz="1200" b="1" dirty="0" err="1"/>
              <a:t>WellBridge</a:t>
            </a:r>
            <a:r>
              <a:rPr lang="en-US" sz="1200" b="1" dirty="0"/>
              <a:t> does</a:t>
            </a:r>
            <a:r>
              <a:rPr lang="en-US" sz="1200" dirty="0"/>
              <a:t>.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4. Example Patient Timeline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Jeane — Ablation Surgery Journey</a:t>
            </a:r>
          </a:p>
          <a:p>
            <a:pPr>
              <a:lnSpc>
                <a:spcPct val="90000"/>
              </a:lnSpc>
              <a:buNone/>
            </a:pPr>
            <a:r>
              <a:rPr lang="en-US" sz="1200" i="1" dirty="0"/>
              <a:t>(Illustrative sketch — not a UI design)</a:t>
            </a:r>
            <a:endParaRPr lang="en-US" sz="1200" dirty="0"/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TODAY — Day 3 Post-Op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Daily Check-In (Patient Conversation)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Summary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Feeling very tired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Mood low / tearful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Bruising at groin site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 palpitations, chest pain, or shortness of breath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 err="1">
                <a:solidFill>
                  <a:srgbClr val="002060"/>
                </a:solidFill>
              </a:rPr>
              <a:t>WellBridge</a:t>
            </a:r>
            <a:r>
              <a:rPr lang="en-US" sz="1200" b="1" dirty="0">
                <a:solidFill>
                  <a:srgbClr val="002060"/>
                </a:solidFill>
              </a:rPr>
              <a:t> Notes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Fatigue and low mood are common 2–4 days after ablation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 red-flag symptoms reported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Actions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Continue light activity only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Monitor mood and energy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Flag for review if symptoms worsen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Source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Patient conversation with </a:t>
            </a:r>
            <a:r>
              <a:rPr lang="en-US" sz="1200" dirty="0" err="1">
                <a:solidFill>
                  <a:srgbClr val="002060"/>
                </a:solidFill>
              </a:rPr>
              <a:t>WellBridge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br>
              <a:rPr lang="en-US" sz="1200" dirty="0">
                <a:solidFill>
                  <a:srgbClr val="002060"/>
                </a:solidFill>
              </a:rPr>
            </a:b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YESTERDAY — Day 2 Post-Op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Doctor Notes Uploaded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Summary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Successful atrial tachycardia ablation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Pulmonary veins re-isolated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No complications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Digoxin stopped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Actions Created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Medication list updated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Digoxin marked as stopped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Follow-up appointment placeholder added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Source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Photo of printed discharge notes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>
                <a:solidFill>
                  <a:srgbClr val="002060"/>
                </a:solidFill>
              </a:rPr>
            </a:b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NOV 21 — Surgery Day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Procedure: Atrial Tachycardia Ablation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Plain-English Summary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Abnormal heart rhythm treated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Electrical pathways corrected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Heart rhythm returned to normal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Clinical Summary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Macro-reentrant atrial tachycardia terminated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Pulmonary vein isolation confirmed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02060"/>
                </a:solidFill>
              </a:rPr>
              <a:t>Cavotricuspid</a:t>
            </a:r>
            <a:r>
              <a:rPr lang="en-US" sz="1200" dirty="0">
                <a:solidFill>
                  <a:srgbClr val="002060"/>
                </a:solidFill>
              </a:rPr>
              <a:t> isthmus block re-established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Source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Surgeon procedure report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>
                <a:solidFill>
                  <a:srgbClr val="002060"/>
                </a:solidFill>
              </a:rPr>
            </a:b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NOV 20 — Pre-Operative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Questions Prepared for Surgery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What side effects should I expect?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How long will fatigue last?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When can I resume walking?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Status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Answered post-procedure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Archived for reference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002060"/>
                </a:solidFill>
              </a:rPr>
              <a:t>Source</a:t>
            </a: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2060"/>
                </a:solidFill>
              </a:rPr>
              <a:t>Patient + </a:t>
            </a:r>
            <a:r>
              <a:rPr lang="en-US" sz="1200" dirty="0" err="1">
                <a:solidFill>
                  <a:srgbClr val="002060"/>
                </a:solidFill>
              </a:rPr>
              <a:t>WellBridge</a:t>
            </a:r>
            <a:r>
              <a:rPr lang="en-US" sz="1200" dirty="0">
                <a:solidFill>
                  <a:srgbClr val="002060"/>
                </a:solidFill>
              </a:rPr>
              <a:t> prompts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>
                <a:solidFill>
                  <a:srgbClr val="002060"/>
                </a:solidFill>
              </a:rPr>
            </a:br>
            <a:endParaRPr lang="en-US" sz="12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5. What Each Timeline Entry Can Expand Into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Each entry can be opened to reveal: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Full conversation transcript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Audio recordings (if enabled)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Uploaded documents or photos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Medication changes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Tasks and reminders generated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Notes shared with doctor or caregiver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By default, the timeline stays </a:t>
            </a:r>
            <a:r>
              <a:rPr lang="en-US" sz="1200" b="1" dirty="0"/>
              <a:t>simple and readable</a:t>
            </a:r>
            <a:r>
              <a:rPr lang="en-US" sz="1200" dirty="0"/>
              <a:t>.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6. Why This View Is So Important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The Patient Timeline demonstrates that: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Conversation creates structure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Memory becomes record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Anxiety is reduced through clarity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Fragmented care becomes continuous</a:t>
            </a:r>
          </a:p>
          <a:p>
            <a:pPr>
              <a:lnSpc>
                <a:spcPct val="90000"/>
              </a:lnSpc>
              <a:buNone/>
            </a:pPr>
            <a:r>
              <a:rPr lang="en-US" sz="1200" dirty="0"/>
              <a:t>It serves multiple users at once: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Patients</a:t>
            </a:r>
            <a:r>
              <a:rPr lang="en-US" sz="1200" dirty="0"/>
              <a:t> — “I understand what’s happening”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Doctors</a:t>
            </a:r>
            <a:r>
              <a:rPr lang="en-US" sz="1200" dirty="0"/>
              <a:t> — “I can see what matters quickly”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Caregivers</a:t>
            </a:r>
            <a:r>
              <a:rPr lang="en-US" sz="1200" dirty="0"/>
              <a:t> — “I’m no longer guessing”</a:t>
            </a:r>
          </a:p>
          <a:p>
            <a:pPr>
              <a:lnSpc>
                <a:spcPct val="90000"/>
              </a:lnSpc>
              <a:buNone/>
            </a:pPr>
            <a:br>
              <a:rPr lang="en-US" sz="1200" dirty="0"/>
            </a:br>
            <a:endParaRPr lang="en-US" sz="1200" dirty="0"/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7. One-Sentence Product Description</a:t>
            </a:r>
          </a:p>
          <a:p>
            <a:pPr>
              <a:lnSpc>
                <a:spcPct val="90000"/>
              </a:lnSpc>
              <a:buNone/>
            </a:pPr>
            <a:r>
              <a:rPr lang="en-US" sz="1200" b="1" dirty="0"/>
              <a:t>“The timeline is the patient’s entire care journey — automatically assembled from everything they say, receive, and experience, without forms or setup.”</a:t>
            </a:r>
            <a:endParaRPr lang="en-US" sz="1200" dirty="0"/>
          </a:p>
        </p:txBody>
      </p:sp>
      <p:pic>
        <p:nvPicPr>
          <p:cNvPr id="9" name="Picture 8" descr="A blue and green timeline with text&#10;&#10;AI-generated content may be incorrect.">
            <a:extLst>
              <a:ext uri="{FF2B5EF4-FFF2-40B4-BE49-F238E27FC236}">
                <a16:creationId xmlns:a16="http://schemas.microsoft.com/office/drawing/2014/main" id="{03BD37D5-B922-7F17-98D7-38D4B8AC8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3530" y="104988"/>
            <a:ext cx="7484836" cy="2333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F3E914-14FF-71AC-7988-1C04197A6451}"/>
              </a:ext>
            </a:extLst>
          </p:cNvPr>
          <p:cNvSpPr txBox="1"/>
          <p:nvPr/>
        </p:nvSpPr>
        <p:spPr>
          <a:xfrm>
            <a:off x="5715001" y="5730691"/>
            <a:ext cx="422148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Top of screen</a:t>
            </a:r>
          </a:p>
          <a:p>
            <a:pPr>
              <a:buNone/>
            </a:pPr>
            <a:r>
              <a:rPr lang="en-US" sz="1200" b="1" dirty="0"/>
              <a:t>My Journey</a:t>
            </a:r>
            <a:endParaRPr lang="en-US" sz="1200" dirty="0"/>
          </a:p>
          <a:p>
            <a:pPr>
              <a:buNone/>
            </a:pPr>
            <a:r>
              <a:rPr lang="en-US" sz="1200" dirty="0"/>
              <a:t>Optional filter: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Visits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Medications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Symptoms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Documents</a:t>
            </a:r>
          </a:p>
          <a:p>
            <a:pPr>
              <a:buNone/>
            </a:pPr>
            <a:r>
              <a:rPr lang="en-US" sz="1200" i="1" dirty="0"/>
              <a:t>(Filters are optional in MVP — timeline alone is enough.)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7748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B99C-47B7-1B45-7646-60F744A6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625" y="365127"/>
            <a:ext cx="19716750" cy="766988"/>
          </a:xfrm>
        </p:spPr>
        <p:txBody>
          <a:bodyPr>
            <a:normAutofit/>
          </a:bodyPr>
          <a:lstStyle/>
          <a:p>
            <a:r>
              <a:rPr lang="en-US" sz="2800" b="1" dirty="0"/>
              <a:t>Medications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EE1C8-8C75-71AF-D155-F6899048B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25" y="1825625"/>
            <a:ext cx="4872718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Do not</a:t>
            </a:r>
            <a:r>
              <a:rPr lang="en-US" dirty="0"/>
              <a:t> add a primary “Medications” button.</a:t>
            </a:r>
          </a:p>
          <a:p>
            <a:r>
              <a:rPr lang="en-US" b="1" dirty="0"/>
              <a:t>Primary home: My Journey → Medications</a:t>
            </a:r>
          </a:p>
          <a:p>
            <a:r>
              <a:rPr lang="en-US" dirty="0"/>
              <a:t>Inside </a:t>
            </a:r>
            <a:r>
              <a:rPr lang="en-US" b="1" dirty="0"/>
              <a:t>My Journey</a:t>
            </a:r>
            <a:r>
              <a:rPr lang="en-US" dirty="0"/>
              <a:t>, there is a section (or filter) called: </a:t>
            </a:r>
            <a:r>
              <a:rPr lang="en-US" b="1" dirty="0"/>
              <a:t>Medications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shows:</a:t>
            </a:r>
          </a:p>
          <a:p>
            <a:r>
              <a:rPr lang="en-US" dirty="0"/>
              <a:t>Current medications</a:t>
            </a:r>
          </a:p>
          <a:p>
            <a:r>
              <a:rPr lang="en-US" dirty="0"/>
              <a:t>Recently stopped medications</a:t>
            </a:r>
          </a:p>
          <a:p>
            <a:r>
              <a:rPr lang="en-US" dirty="0"/>
              <a:t>Past medications (collapsed)</a:t>
            </a:r>
          </a:p>
          <a:p>
            <a:r>
              <a:rPr lang="en-US" dirty="0"/>
              <a:t>Start / stop dates</a:t>
            </a:r>
          </a:p>
          <a:p>
            <a:r>
              <a:rPr lang="en-US" dirty="0"/>
              <a:t>Dosage &amp; timing</a:t>
            </a:r>
          </a:p>
          <a:p>
            <a:r>
              <a:rPr lang="en-US" dirty="0"/>
              <a:t>Notes (“small blue pill”, “take with food”)</a:t>
            </a:r>
          </a:p>
          <a:p>
            <a:r>
              <a:rPr lang="en-US" dirty="0"/>
              <a:t>Source (doctor visit, discharge notes, patient report)</a:t>
            </a:r>
          </a:p>
          <a:p>
            <a:pPr marL="0" indent="0">
              <a:buNone/>
            </a:pPr>
            <a:r>
              <a:rPr lang="en-US" dirty="0"/>
              <a:t>Think of it as: “Everything you’ve ever been told to take — organized for you.”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062DD-8F94-F102-E0ED-85772CFCA2DE}"/>
              </a:ext>
            </a:extLst>
          </p:cNvPr>
          <p:cNvSpPr txBox="1"/>
          <p:nvPr/>
        </p:nvSpPr>
        <p:spPr>
          <a:xfrm>
            <a:off x="6969035" y="1690689"/>
            <a:ext cx="11430000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users actually get there (most of the time)</a:t>
            </a:r>
          </a:p>
          <a:p>
            <a:pPr>
              <a:buNone/>
            </a:pPr>
            <a:r>
              <a:rPr lang="en-US" b="1" dirty="0"/>
              <a:t>1. Conversation-first (default)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None/>
            </a:pPr>
            <a:r>
              <a:rPr lang="en-US" b="1" dirty="0"/>
              <a:t>Patient</a:t>
            </a:r>
            <a:endParaRPr lang="en-US" dirty="0"/>
          </a:p>
          <a:p>
            <a:pPr>
              <a:buNone/>
            </a:pPr>
            <a:r>
              <a:rPr lang="en-US" dirty="0"/>
              <a:t>“What meds am I on again?”</a:t>
            </a:r>
          </a:p>
          <a:p>
            <a:pPr>
              <a:buNone/>
            </a:pPr>
            <a:r>
              <a:rPr lang="en-US" b="1" dirty="0" err="1"/>
              <a:t>WellBridge</a:t>
            </a:r>
            <a:endParaRPr lang="en-US" dirty="0"/>
          </a:p>
          <a:p>
            <a:pPr>
              <a:buNone/>
            </a:pPr>
            <a:r>
              <a:rPr lang="en-US" dirty="0"/>
              <a:t>“You’re currently taking 3 medications. I’ve opened your list so you can review them.”</a:t>
            </a:r>
          </a:p>
          <a:p>
            <a:pPr>
              <a:buNone/>
            </a:pPr>
            <a:r>
              <a:rPr lang="en-US" dirty="0"/>
              <a:t>→ App navigates them to </a:t>
            </a:r>
            <a:r>
              <a:rPr lang="en-US" b="1" dirty="0"/>
              <a:t>My Journey → Medications</a:t>
            </a:r>
            <a:endParaRPr lang="en-US" dirty="0"/>
          </a:p>
          <a:p>
            <a:pPr>
              <a:buNone/>
            </a:pPr>
            <a:r>
              <a:rPr lang="en-US" dirty="0"/>
              <a:t>The patient never hunted for it.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2. Reminder-driven (secondary)</a:t>
            </a:r>
          </a:p>
          <a:p>
            <a:pPr>
              <a:buNone/>
            </a:pPr>
            <a:r>
              <a:rPr lang="en-US" dirty="0"/>
              <a:t>From </a:t>
            </a:r>
            <a:r>
              <a:rPr lang="en-US" b="1" dirty="0"/>
              <a:t>Home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“Take Apixaban at 8pm”</a:t>
            </a:r>
          </a:p>
          <a:p>
            <a:pPr>
              <a:buNone/>
            </a:pPr>
            <a:r>
              <a:rPr lang="en-US" dirty="0"/>
              <a:t>Tapping the reminder: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</a:t>
            </a:r>
            <a:r>
              <a:rPr lang="en-US" i="1" dirty="0"/>
              <a:t>that medication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a link:</a:t>
            </a:r>
            <a:br>
              <a:rPr lang="en-US" dirty="0"/>
            </a:br>
            <a:r>
              <a:rPr lang="en-US" b="1" dirty="0"/>
              <a:t>“View all medications”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3. Pre-appointment prep (important use case)</a:t>
            </a:r>
          </a:p>
          <a:p>
            <a:pPr>
              <a:buNone/>
            </a:pPr>
            <a:r>
              <a:rPr lang="en-US" b="1" dirty="0" err="1"/>
              <a:t>WellBridge</a:t>
            </a:r>
            <a:endParaRPr lang="en-US" dirty="0"/>
          </a:p>
          <a:p>
            <a:pPr>
              <a:buNone/>
            </a:pPr>
            <a:r>
              <a:rPr lang="en-US" dirty="0"/>
              <a:t>“Before tomorrow’s appointment, would you like a medication summary to review or share with your doctor?”</a:t>
            </a:r>
          </a:p>
          <a:p>
            <a:pPr>
              <a:buNone/>
            </a:pPr>
            <a:r>
              <a:rPr lang="en-US" dirty="0"/>
              <a:t>If yes: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Shows the medication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 options: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“Simple view”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“Clinical view”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“Send to doctor”</a:t>
            </a:r>
          </a:p>
        </p:txBody>
      </p:sp>
    </p:spTree>
    <p:extLst>
      <p:ext uri="{BB962C8B-B14F-4D97-AF65-F5344CB8AC3E}">
        <p14:creationId xmlns:p14="http://schemas.microsoft.com/office/powerpoint/2010/main" val="2967452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705</TotalTime>
  <Words>4172</Words>
  <Application>Microsoft Office PowerPoint</Application>
  <PresentationFormat>Custom</PresentationFormat>
  <Paragraphs>613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WellBridge — Patient Timeline / My Journey</vt:lpstr>
      <vt:lpstr>Medications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Whelton</dc:creator>
  <cp:lastModifiedBy>McGraw, Shawn (SMO NAM RI CYS)</cp:lastModifiedBy>
  <cp:revision>2</cp:revision>
  <dcterms:created xsi:type="dcterms:W3CDTF">2026-01-05T13:57:13Z</dcterms:created>
  <dcterms:modified xsi:type="dcterms:W3CDTF">2026-02-17T19:34:57Z</dcterms:modified>
</cp:coreProperties>
</file>